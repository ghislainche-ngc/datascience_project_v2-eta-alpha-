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451" autoAdjust="0"/>
  </p:normalViewPr>
  <p:slideViewPr>
    <p:cSldViewPr snapToGrid="0" snapToObjects="1">
      <p:cViewPr>
        <p:scale>
          <a:sx n="65" d="100"/>
          <a:sy n="65" d="100"/>
        </p:scale>
        <p:origin x="700"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3872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everyone. Today we present our analysis of mobile money transaction patterns in Cameroon. Our goal was to classify users into behavioral segments using both transaction behavior and demographic attributes. This has direct applications in customer segmentation, credit risk assessment, and financial inclusion strategy.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defined three activity classes using quantile-based thresholds: Low is 55 or fewer transactions, Medium is 56 to 204, and High is above 204. The classification uses 15 behavioral features describing how users transact, plus 14 demographic features describing who they are. The key challenge: only 69 users with a very small dataset.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behavioral data comes from SMS transaction messages exported by 69 users. We augmented this with a demographic questionnaire completed by 10 users. For the remaining 59, we simulated plausible demographics based on the 10 real responses and Cameroon population statistics. This is clearly documented as simulated data. The behavioral features describe HOW users transact, while demographic features describe WHO they are.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parallel cleaning pipelines. The behavioral pipeline parses raw SMS messages into structured transactions and aggregates to user-level features. The demographic pipeline standardizes questionnaire responses. Critically, we excluded all frequency-based features to prevent data leakage, since our target is based on transaction count.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EDA revealed that mobile money in Cameroon is dominated by small, frequent transactions. The median is just 500 XAF. Most transactions are outbound, with transfers and airtime topping the list. We identified clear behavioral differences between activity classes that the model can exploit.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trained three models: Logistic Regression as an interpretable baseline, Random Forest as a robust ensemble, and XGBoost as the highest-performing gradient boosting approach. Each was evaluated with and without demographic features to measure the impact of socioeconomic data.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XGBoost with behavioral features alone achieved the highest F1 macro of 0.57. When we added demographics, Random Forest improved but XGBoost slightly decreased. This is because 59 of 69 demographics are simulated, adding noise. With real demographic data, we would expect more consistent improvement. All models beat baselines.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Feature importance analysis reveals that behavioral features are the primary predictors. Deposit frequency, send-receive ratio, and transfer patterns are the top signals. Among demographics, profession and education show the strongest signal, suggesting that occupation type influences mobile money behavior.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identified three distinct user profiles. High-activity users are daily power users making many small transactions. Low-activity users are infrequent but purposeful, with larger transaction amounts. Medium users are the hardest to classify because they blend characteristics of both groups. The key takeaway: behavioral features are more predictive than demographics for this task.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business applications. First, customer segmentation: classify users early and tailor products. Second, credit risk: high-activity users are better lending candidates. Third, targeted marketing using the demographic-behavioral intersection. Fourth, churn detection by monitoring activity class transitions over time.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main limitation is dataset size. With 69 users, models are inherently </a:t>
            </a:r>
            <a:r>
              <a:t>unstable</a:t>
            </a:r>
            <a:r>
              <a:rPr lang="en-US"/>
              <a:t>. </a:t>
            </a:r>
            <a:r>
              <a:t>A </a:t>
            </a:r>
            <a:r>
              <a:rPr dirty="0"/>
              <a:t>temporal split approach would also improve reliability by simulating real-world deployment.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we demonstrated that mobile money transaction behavior alone carries genuine predictive signal for user activity classification. XGBoost achieved an F1 of 0.57, well above baselines. Demographic integration showed mixed results due to mostly simulated data, but profession and education provided secondary signals. The three user profiles we identified have direct business applications.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371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645920"/>
            <a:ext cx="9418320" cy="1097280"/>
          </a:xfrm>
          <a:prstGeom prst="rect">
            <a:avLst/>
          </a:prstGeom>
          <a:noFill/>
        </p:spPr>
        <p:txBody>
          <a:bodyPr wrap="square">
            <a:spAutoFit/>
          </a:bodyPr>
          <a:lstStyle/>
          <a:p>
            <a:pPr algn="l">
              <a:defRPr sz="4400" b="1">
                <a:solidFill>
                  <a:srgbClr val="FFFFFF"/>
                </a:solidFill>
                <a:latin typeface="Calibri"/>
              </a:defRPr>
            </a:pPr>
            <a:r>
              <a:t>Mobile Money Transaction Analysis</a:t>
            </a:r>
          </a:p>
        </p:txBody>
      </p:sp>
      <p:sp>
        <p:nvSpPr>
          <p:cNvPr id="4" name="TextBox 3"/>
          <p:cNvSpPr txBox="1"/>
          <p:nvPr/>
        </p:nvSpPr>
        <p:spPr>
          <a:xfrm>
            <a:off x="1371600" y="2743200"/>
            <a:ext cx="9418320" cy="731520"/>
          </a:xfrm>
          <a:prstGeom prst="rect">
            <a:avLst/>
          </a:prstGeom>
          <a:noFill/>
        </p:spPr>
        <p:txBody>
          <a:bodyPr wrap="square">
            <a:spAutoFit/>
          </a:bodyPr>
          <a:lstStyle/>
          <a:p>
            <a:pPr algn="l">
              <a:defRPr sz="2800" b="0">
                <a:solidFill>
                  <a:srgbClr val="D6EAF8"/>
                </a:solidFill>
                <a:latin typeface="Calibri"/>
              </a:defRPr>
            </a:pPr>
            <a:r>
              <a:t>User Activity Classification in Cameroon</a:t>
            </a:r>
          </a:p>
        </p:txBody>
      </p:sp>
      <p:sp>
        <p:nvSpPr>
          <p:cNvPr id="5" name="Rectangle 4"/>
          <p:cNvSpPr/>
          <p:nvPr/>
        </p:nvSpPr>
        <p:spPr>
          <a:xfrm>
            <a:off x="1371600" y="3566160"/>
            <a:ext cx="2743200" cy="36576"/>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3931920"/>
            <a:ext cx="9418320" cy="457200"/>
          </a:xfrm>
          <a:prstGeom prst="rect">
            <a:avLst/>
          </a:prstGeom>
          <a:noFill/>
        </p:spPr>
        <p:txBody>
          <a:bodyPr wrap="square">
            <a:spAutoFit/>
          </a:bodyPr>
          <a:lstStyle/>
          <a:p>
            <a:pPr algn="l">
              <a:defRPr sz="1800" b="0">
                <a:solidFill>
                  <a:srgbClr val="D6EAF8"/>
                </a:solidFill>
                <a:latin typeface="Calibri"/>
              </a:defRPr>
            </a:pPr>
            <a:r>
              <a:t>CSC 3221 — Introduction to Data Science</a:t>
            </a:r>
          </a:p>
        </p:txBody>
      </p:sp>
      <p:sp>
        <p:nvSpPr>
          <p:cNvPr id="7" name="TextBox 6"/>
          <p:cNvSpPr txBox="1"/>
          <p:nvPr/>
        </p:nvSpPr>
        <p:spPr>
          <a:xfrm>
            <a:off x="1371600" y="4480560"/>
            <a:ext cx="9418320" cy="457200"/>
          </a:xfrm>
          <a:prstGeom prst="rect">
            <a:avLst/>
          </a:prstGeom>
          <a:noFill/>
        </p:spPr>
        <p:txBody>
          <a:bodyPr wrap="square">
            <a:spAutoFit/>
          </a:bodyPr>
          <a:lstStyle/>
          <a:p>
            <a:pPr algn="l">
              <a:defRPr sz="1600" b="0">
                <a:solidFill>
                  <a:srgbClr val="666666"/>
                </a:solidFill>
                <a:latin typeface="Calibri"/>
              </a:defRPr>
            </a:pPr>
            <a:r>
              <a:t>Final Assessment  |  May 2026</a:t>
            </a:r>
          </a:p>
        </p:txBody>
      </p:sp>
      <p:sp>
        <p:nvSpPr>
          <p:cNvPr id="8" name="TextBox 7"/>
          <p:cNvSpPr txBox="1"/>
          <p:nvPr/>
        </p:nvSpPr>
        <p:spPr>
          <a:xfrm>
            <a:off x="1371600" y="5029200"/>
            <a:ext cx="9418320" cy="457200"/>
          </a:xfrm>
          <a:prstGeom prst="rect">
            <a:avLst/>
          </a:prstGeom>
          <a:noFill/>
        </p:spPr>
        <p:txBody>
          <a:bodyPr wrap="square">
            <a:spAutoFit/>
          </a:bodyPr>
          <a:lstStyle/>
          <a:p>
            <a:pPr algn="l">
              <a:defRPr sz="1400" b="0">
                <a:solidFill>
                  <a:srgbClr val="666666"/>
                </a:solidFill>
                <a:latin typeface="Calibri"/>
              </a:defRPr>
            </a:pPr>
            <a:r>
              <a:t>Dr. Fotsing Kuetche — ICT University</a:t>
            </a:r>
          </a:p>
        </p:txBody>
      </p:sp>
      <p:sp>
        <p:nvSpPr>
          <p:cNvPr id="9" name="Rectangle 8"/>
          <p:cNvSpPr/>
          <p:nvPr/>
        </p:nvSpPr>
        <p:spPr>
          <a:xfrm>
            <a:off x="0" y="6720840"/>
            <a:ext cx="12191695" cy="1371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Problem Statement</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What are we trying to solve?</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6400800" cy="4114800"/>
          </a:xfrm>
          <a:prstGeom prst="rect">
            <a:avLst/>
          </a:prstGeom>
          <a:noFill/>
        </p:spPr>
        <p:txBody>
          <a:bodyPr wrap="square">
            <a:spAutoFit/>
          </a:bodyPr>
          <a:lstStyle/>
          <a:p>
            <a:pPr>
              <a:spcAft>
                <a:spcPts val="800"/>
              </a:spcAft>
              <a:defRPr sz="2000">
                <a:solidFill>
                  <a:srgbClr val="333333"/>
                </a:solidFill>
                <a:latin typeface="Calibri"/>
              </a:defRPr>
            </a:pPr>
            <a:r>
              <a:t>Goal: Classify mobile money users into Low / Medium / High activity</a:t>
            </a:r>
          </a:p>
          <a:p>
            <a:pPr>
              <a:spcAft>
                <a:spcPts val="800"/>
              </a:spcAft>
              <a:defRPr sz="2000">
                <a:solidFill>
                  <a:srgbClr val="333333"/>
                </a:solidFill>
                <a:latin typeface="Calibri"/>
              </a:defRPr>
            </a:pPr>
            <a:r>
              <a:t>Multi-class classification using behavioral + demographic features</a:t>
            </a:r>
          </a:p>
          <a:p>
            <a:pPr>
              <a:spcAft>
                <a:spcPts val="800"/>
              </a:spcAft>
              <a:defRPr sz="2000">
                <a:solidFill>
                  <a:srgbClr val="333333"/>
                </a:solidFill>
                <a:latin typeface="Calibri"/>
              </a:defRPr>
            </a:pPr>
            <a:r>
              <a:t>Target defined by quantile thresholds on transaction count</a:t>
            </a:r>
          </a:p>
          <a:p>
            <a:pPr>
              <a:spcAft>
                <a:spcPts val="800"/>
              </a:spcAft>
              <a:defRPr sz="2000">
                <a:solidFill>
                  <a:srgbClr val="333333"/>
                </a:solidFill>
                <a:latin typeface="Calibri"/>
              </a:defRPr>
            </a:pPr>
            <a:r>
              <a:t>Must outperform naive baselines with no data leakage</a:t>
            </a:r>
          </a:p>
          <a:p>
            <a:pPr>
              <a:spcAft>
                <a:spcPts val="800"/>
              </a:spcAft>
              <a:defRPr sz="2000">
                <a:solidFill>
                  <a:srgbClr val="333333"/>
                </a:solidFill>
                <a:latin typeface="Calibri"/>
              </a:defRPr>
            </a:pPr>
            <a:r>
              <a:t>New: Assess impact of demographic data on classification accuracy</a:t>
            </a:r>
          </a:p>
        </p:txBody>
      </p:sp>
      <p:sp>
        <p:nvSpPr>
          <p:cNvPr id="6" name="Rectangle 5"/>
          <p:cNvSpPr/>
          <p:nvPr/>
        </p:nvSpPr>
        <p:spPr>
          <a:xfrm>
            <a:off x="8229600" y="2011680"/>
            <a:ext cx="3200400"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80" y="2103120"/>
            <a:ext cx="2743200" cy="365760"/>
          </a:xfrm>
          <a:prstGeom prst="rect">
            <a:avLst/>
          </a:prstGeom>
          <a:noFill/>
        </p:spPr>
        <p:txBody>
          <a:bodyPr wrap="square">
            <a:spAutoFit/>
          </a:bodyPr>
          <a:lstStyle/>
          <a:p>
            <a:pPr algn="l">
              <a:defRPr sz="1400" b="0">
                <a:solidFill>
                  <a:srgbClr val="FFFFFF"/>
                </a:solidFill>
                <a:latin typeface="Calibri"/>
              </a:defRPr>
            </a:pPr>
            <a:r>
              <a:t>Classes</a:t>
            </a:r>
          </a:p>
        </p:txBody>
      </p:sp>
      <p:sp>
        <p:nvSpPr>
          <p:cNvPr id="8" name="TextBox 7"/>
          <p:cNvSpPr txBox="1"/>
          <p:nvPr/>
        </p:nvSpPr>
        <p:spPr>
          <a:xfrm>
            <a:off x="8412480" y="2423160"/>
            <a:ext cx="2743200" cy="457200"/>
          </a:xfrm>
          <a:prstGeom prst="rect">
            <a:avLst/>
          </a:prstGeom>
          <a:noFill/>
        </p:spPr>
        <p:txBody>
          <a:bodyPr wrap="square">
            <a:spAutoFit/>
          </a:bodyPr>
          <a:lstStyle/>
          <a:p>
            <a:pPr algn="l">
              <a:defRPr sz="3600" b="1">
                <a:solidFill>
                  <a:srgbClr val="FFFFFF"/>
                </a:solidFill>
                <a:latin typeface="Calibri"/>
              </a:defRPr>
            </a:pPr>
            <a:r>
              <a:t>3</a:t>
            </a:r>
          </a:p>
        </p:txBody>
      </p:sp>
      <p:sp>
        <p:nvSpPr>
          <p:cNvPr id="9" name="Rectangle 8"/>
          <p:cNvSpPr/>
          <p:nvPr/>
        </p:nvSpPr>
        <p:spPr>
          <a:xfrm>
            <a:off x="8229600" y="3291840"/>
            <a:ext cx="3200400" cy="10058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0" y="3383280"/>
            <a:ext cx="2743200" cy="365760"/>
          </a:xfrm>
          <a:prstGeom prst="rect">
            <a:avLst/>
          </a:prstGeom>
          <a:noFill/>
        </p:spPr>
        <p:txBody>
          <a:bodyPr wrap="square">
            <a:spAutoFit/>
          </a:bodyPr>
          <a:lstStyle/>
          <a:p>
            <a:pPr algn="l">
              <a:defRPr sz="1400" b="0">
                <a:solidFill>
                  <a:srgbClr val="FFFFFF"/>
                </a:solidFill>
                <a:latin typeface="Calibri"/>
              </a:defRPr>
            </a:pPr>
            <a:r>
              <a:t>Users</a:t>
            </a:r>
          </a:p>
        </p:txBody>
      </p:sp>
      <p:sp>
        <p:nvSpPr>
          <p:cNvPr id="11" name="TextBox 10"/>
          <p:cNvSpPr txBox="1"/>
          <p:nvPr/>
        </p:nvSpPr>
        <p:spPr>
          <a:xfrm>
            <a:off x="8412480" y="3703320"/>
            <a:ext cx="2743200" cy="457200"/>
          </a:xfrm>
          <a:prstGeom prst="rect">
            <a:avLst/>
          </a:prstGeom>
          <a:noFill/>
        </p:spPr>
        <p:txBody>
          <a:bodyPr wrap="square">
            <a:spAutoFit/>
          </a:bodyPr>
          <a:lstStyle/>
          <a:p>
            <a:pPr algn="l">
              <a:defRPr sz="3600" b="1">
                <a:solidFill>
                  <a:srgbClr val="FFFFFF"/>
                </a:solidFill>
                <a:latin typeface="Calibri"/>
              </a:defRPr>
            </a:pPr>
            <a:r>
              <a:t>69</a:t>
            </a:r>
          </a:p>
        </p:txBody>
      </p:sp>
      <p:sp>
        <p:nvSpPr>
          <p:cNvPr id="12" name="Rectangle 11"/>
          <p:cNvSpPr/>
          <p:nvPr/>
        </p:nvSpPr>
        <p:spPr>
          <a:xfrm>
            <a:off x="8229600" y="4572000"/>
            <a:ext cx="3200400" cy="10058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12480" y="4663440"/>
            <a:ext cx="2743200" cy="365760"/>
          </a:xfrm>
          <a:prstGeom prst="rect">
            <a:avLst/>
          </a:prstGeom>
          <a:noFill/>
        </p:spPr>
        <p:txBody>
          <a:bodyPr wrap="square">
            <a:spAutoFit/>
          </a:bodyPr>
          <a:lstStyle/>
          <a:p>
            <a:pPr algn="l">
              <a:defRPr sz="1400" b="0">
                <a:solidFill>
                  <a:srgbClr val="FFFFFF"/>
                </a:solidFill>
                <a:latin typeface="Calibri"/>
              </a:defRPr>
            </a:pPr>
            <a:r>
              <a:t>Features</a:t>
            </a:r>
          </a:p>
        </p:txBody>
      </p:sp>
      <p:sp>
        <p:nvSpPr>
          <p:cNvPr id="14" name="TextBox 13"/>
          <p:cNvSpPr txBox="1"/>
          <p:nvPr/>
        </p:nvSpPr>
        <p:spPr>
          <a:xfrm>
            <a:off x="8412480" y="4983480"/>
            <a:ext cx="2743200" cy="457200"/>
          </a:xfrm>
          <a:prstGeom prst="rect">
            <a:avLst/>
          </a:prstGeom>
          <a:noFill/>
        </p:spPr>
        <p:txBody>
          <a:bodyPr wrap="square">
            <a:spAutoFit/>
          </a:bodyPr>
          <a:lstStyle/>
          <a:p>
            <a:pPr algn="l">
              <a:defRPr sz="3600" b="1">
                <a:solidFill>
                  <a:srgbClr val="FFFFFF"/>
                </a:solidFill>
                <a:latin typeface="Calibri"/>
              </a:defRPr>
            </a:pPr>
            <a:r>
              <a:t>29</a:t>
            </a:r>
          </a:p>
        </p:txBody>
      </p:sp>
      <p:sp>
        <p:nvSpPr>
          <p:cNvPr id="15" name="TextBox 14"/>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2/12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Dataset Overview</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Two data sources integrated</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5029200" cy="4114800"/>
          </a:xfrm>
          <a:prstGeom prst="rect">
            <a:avLst/>
          </a:prstGeom>
          <a:noFill/>
        </p:spPr>
        <p:txBody>
          <a:bodyPr wrap="square">
            <a:spAutoFit/>
          </a:bodyPr>
          <a:lstStyle/>
          <a:p>
            <a:pPr>
              <a:spcAft>
                <a:spcPts val="800"/>
              </a:spcAft>
              <a:defRPr sz="1800">
                <a:solidFill>
                  <a:srgbClr val="333333"/>
                </a:solidFill>
                <a:latin typeface="Calibri"/>
              </a:defRPr>
            </a:pPr>
            <a:r>
              <a:t>20,530 transactions from 69 users (51 original + 18 anonymized)</a:t>
            </a:r>
          </a:p>
          <a:p>
            <a:pPr>
              <a:spcAft>
                <a:spcPts val="800"/>
              </a:spcAft>
              <a:defRPr sz="1800">
                <a:solidFill>
                  <a:srgbClr val="333333"/>
                </a:solidFill>
                <a:latin typeface="Calibri"/>
              </a:defRPr>
            </a:pPr>
            <a:r>
              <a:t>Date range: 2023–2026 | MobileMoney (96%) + OrangeMoney (4%)</a:t>
            </a:r>
          </a:p>
          <a:p>
            <a:pPr>
              <a:spcAft>
                <a:spcPts val="800"/>
              </a:spcAft>
              <a:defRPr sz="1800">
                <a:solidFill>
                  <a:srgbClr val="333333"/>
                </a:solidFill>
                <a:latin typeface="Calibri"/>
              </a:defRPr>
            </a:pPr>
            <a:r>
              <a:t>Demographic questionnaire: 10 users (extended to 69 via simulation)</a:t>
            </a:r>
          </a:p>
          <a:p>
            <a:pPr>
              <a:spcAft>
                <a:spcPts val="800"/>
              </a:spcAft>
              <a:defRPr sz="1800">
                <a:solidFill>
                  <a:srgbClr val="333333"/>
                </a:solidFill>
                <a:latin typeface="Calibri"/>
              </a:defRPr>
            </a:pPr>
            <a:r>
              <a:t>Fields: age, gender, profession, education, income, geography</a:t>
            </a:r>
          </a:p>
          <a:p>
            <a:pPr>
              <a:spcAft>
                <a:spcPts val="800"/>
              </a:spcAft>
              <a:defRPr sz="1800">
                <a:solidFill>
                  <a:srgbClr val="333333"/>
                </a:solidFill>
                <a:latin typeface="Calibri"/>
              </a:defRPr>
            </a:pPr>
            <a:r>
              <a:t>All records tagged: real (10) vs simulated (59)</a:t>
            </a:r>
          </a:p>
        </p:txBody>
      </p:sp>
      <p:sp>
        <p:nvSpPr>
          <p:cNvPr id="6" name="Rectangle 5"/>
          <p:cNvSpPr/>
          <p:nvPr/>
        </p:nvSpPr>
        <p:spPr>
          <a:xfrm>
            <a:off x="6858000" y="2011680"/>
            <a:ext cx="2194560" cy="128016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95160" y="2148840"/>
            <a:ext cx="1920240" cy="365760"/>
          </a:xfrm>
          <a:prstGeom prst="rect">
            <a:avLst/>
          </a:prstGeom>
          <a:noFill/>
        </p:spPr>
        <p:txBody>
          <a:bodyPr wrap="square">
            <a:spAutoFit/>
          </a:bodyPr>
          <a:lstStyle/>
          <a:p>
            <a:pPr algn="l">
              <a:defRPr sz="1200" b="0">
                <a:solidFill>
                  <a:srgbClr val="2E86C1"/>
                </a:solidFill>
                <a:latin typeface="Calibri"/>
              </a:defRPr>
            </a:pPr>
            <a:r>
              <a:t>Transactions</a:t>
            </a:r>
          </a:p>
        </p:txBody>
      </p:sp>
      <p:sp>
        <p:nvSpPr>
          <p:cNvPr id="8" name="TextBox 7"/>
          <p:cNvSpPr txBox="1"/>
          <p:nvPr/>
        </p:nvSpPr>
        <p:spPr>
          <a:xfrm>
            <a:off x="6995160" y="2468880"/>
            <a:ext cx="1920240" cy="548640"/>
          </a:xfrm>
          <a:prstGeom prst="rect">
            <a:avLst/>
          </a:prstGeom>
          <a:noFill/>
        </p:spPr>
        <p:txBody>
          <a:bodyPr wrap="square">
            <a:spAutoFit/>
          </a:bodyPr>
          <a:lstStyle/>
          <a:p>
            <a:pPr algn="l">
              <a:defRPr sz="2800" b="1">
                <a:solidFill>
                  <a:srgbClr val="1B2A4A"/>
                </a:solidFill>
                <a:latin typeface="Calibri"/>
              </a:defRPr>
            </a:pPr>
            <a:r>
              <a:t>20,530</a:t>
            </a:r>
          </a:p>
        </p:txBody>
      </p:sp>
      <p:sp>
        <p:nvSpPr>
          <p:cNvPr id="9" name="Rectangle 8"/>
          <p:cNvSpPr/>
          <p:nvPr/>
        </p:nvSpPr>
        <p:spPr>
          <a:xfrm>
            <a:off x="9326880" y="2011680"/>
            <a:ext cx="2194560" cy="128016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464040" y="2148840"/>
            <a:ext cx="1920240" cy="365760"/>
          </a:xfrm>
          <a:prstGeom prst="rect">
            <a:avLst/>
          </a:prstGeom>
          <a:noFill/>
        </p:spPr>
        <p:txBody>
          <a:bodyPr wrap="square">
            <a:spAutoFit/>
          </a:bodyPr>
          <a:lstStyle/>
          <a:p>
            <a:pPr algn="l">
              <a:defRPr sz="1200" b="0">
                <a:solidFill>
                  <a:srgbClr val="2E86C1"/>
                </a:solidFill>
                <a:latin typeface="Calibri"/>
              </a:defRPr>
            </a:pPr>
            <a:r>
              <a:t>Users</a:t>
            </a:r>
          </a:p>
        </p:txBody>
      </p:sp>
      <p:sp>
        <p:nvSpPr>
          <p:cNvPr id="11" name="TextBox 10"/>
          <p:cNvSpPr txBox="1"/>
          <p:nvPr/>
        </p:nvSpPr>
        <p:spPr>
          <a:xfrm>
            <a:off x="9464040" y="2468880"/>
            <a:ext cx="1920240" cy="548640"/>
          </a:xfrm>
          <a:prstGeom prst="rect">
            <a:avLst/>
          </a:prstGeom>
          <a:noFill/>
        </p:spPr>
        <p:txBody>
          <a:bodyPr wrap="square">
            <a:spAutoFit/>
          </a:bodyPr>
          <a:lstStyle/>
          <a:p>
            <a:pPr algn="l">
              <a:defRPr sz="2800" b="1">
                <a:solidFill>
                  <a:srgbClr val="1B2A4A"/>
                </a:solidFill>
                <a:latin typeface="Calibri"/>
              </a:defRPr>
            </a:pPr>
            <a:r>
              <a:t>69</a:t>
            </a:r>
          </a:p>
        </p:txBody>
      </p:sp>
      <p:sp>
        <p:nvSpPr>
          <p:cNvPr id="12" name="Rectangle 11"/>
          <p:cNvSpPr/>
          <p:nvPr/>
        </p:nvSpPr>
        <p:spPr>
          <a:xfrm>
            <a:off x="6858000" y="3657600"/>
            <a:ext cx="2194560" cy="128016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995160" y="3794760"/>
            <a:ext cx="1920240" cy="365760"/>
          </a:xfrm>
          <a:prstGeom prst="rect">
            <a:avLst/>
          </a:prstGeom>
          <a:noFill/>
        </p:spPr>
        <p:txBody>
          <a:bodyPr wrap="square">
            <a:spAutoFit/>
          </a:bodyPr>
          <a:lstStyle/>
          <a:p>
            <a:pPr algn="l">
              <a:defRPr sz="1200" b="0">
                <a:solidFill>
                  <a:srgbClr val="2E86C1"/>
                </a:solidFill>
                <a:latin typeface="Calibri"/>
              </a:defRPr>
            </a:pPr>
            <a:r>
              <a:t>Behavioral Feat.</a:t>
            </a:r>
          </a:p>
        </p:txBody>
      </p:sp>
      <p:sp>
        <p:nvSpPr>
          <p:cNvPr id="14" name="TextBox 13"/>
          <p:cNvSpPr txBox="1"/>
          <p:nvPr/>
        </p:nvSpPr>
        <p:spPr>
          <a:xfrm>
            <a:off x="6995160" y="4114800"/>
            <a:ext cx="1920240" cy="548640"/>
          </a:xfrm>
          <a:prstGeom prst="rect">
            <a:avLst/>
          </a:prstGeom>
          <a:noFill/>
        </p:spPr>
        <p:txBody>
          <a:bodyPr wrap="square">
            <a:spAutoFit/>
          </a:bodyPr>
          <a:lstStyle/>
          <a:p>
            <a:pPr algn="l">
              <a:defRPr sz="2800" b="1">
                <a:solidFill>
                  <a:srgbClr val="1B2A4A"/>
                </a:solidFill>
                <a:latin typeface="Calibri"/>
              </a:defRPr>
            </a:pPr>
            <a:r>
              <a:t>15</a:t>
            </a:r>
          </a:p>
        </p:txBody>
      </p:sp>
      <p:sp>
        <p:nvSpPr>
          <p:cNvPr id="15" name="Rectangle 14"/>
          <p:cNvSpPr/>
          <p:nvPr/>
        </p:nvSpPr>
        <p:spPr>
          <a:xfrm>
            <a:off x="9326880" y="3657600"/>
            <a:ext cx="2194560" cy="128016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64040" y="3794760"/>
            <a:ext cx="1920240" cy="365760"/>
          </a:xfrm>
          <a:prstGeom prst="rect">
            <a:avLst/>
          </a:prstGeom>
          <a:noFill/>
        </p:spPr>
        <p:txBody>
          <a:bodyPr wrap="square">
            <a:spAutoFit/>
          </a:bodyPr>
          <a:lstStyle/>
          <a:p>
            <a:pPr algn="l">
              <a:defRPr sz="1200" b="0">
                <a:solidFill>
                  <a:srgbClr val="2E86C1"/>
                </a:solidFill>
                <a:latin typeface="Calibri"/>
              </a:defRPr>
            </a:pPr>
            <a:r>
              <a:t>Demographic Feat.</a:t>
            </a:r>
          </a:p>
        </p:txBody>
      </p:sp>
      <p:sp>
        <p:nvSpPr>
          <p:cNvPr id="17" name="TextBox 16"/>
          <p:cNvSpPr txBox="1"/>
          <p:nvPr/>
        </p:nvSpPr>
        <p:spPr>
          <a:xfrm>
            <a:off x="9464040" y="4114800"/>
            <a:ext cx="1920240" cy="548640"/>
          </a:xfrm>
          <a:prstGeom prst="rect">
            <a:avLst/>
          </a:prstGeom>
          <a:noFill/>
        </p:spPr>
        <p:txBody>
          <a:bodyPr wrap="square">
            <a:spAutoFit/>
          </a:bodyPr>
          <a:lstStyle/>
          <a:p>
            <a:pPr algn="l">
              <a:defRPr sz="2800" b="1">
                <a:solidFill>
                  <a:srgbClr val="1B2A4A"/>
                </a:solidFill>
                <a:latin typeface="Calibri"/>
              </a:defRPr>
            </a:pPr>
            <a:r>
              <a:t>14</a:t>
            </a:r>
          </a:p>
        </p:txBody>
      </p:sp>
      <p:sp>
        <p:nvSpPr>
          <p:cNvPr id="18" name="TextBox 17"/>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3/12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Data Cleaning Summary</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Behavioral + Demographic pipelines</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5029200" cy="365760"/>
          </a:xfrm>
          <a:prstGeom prst="rect">
            <a:avLst/>
          </a:prstGeom>
          <a:noFill/>
        </p:spPr>
        <p:txBody>
          <a:bodyPr wrap="square">
            <a:spAutoFit/>
          </a:bodyPr>
          <a:lstStyle/>
          <a:p>
            <a:pPr algn="l">
              <a:defRPr sz="2000" b="1">
                <a:solidFill>
                  <a:srgbClr val="2E86C1"/>
                </a:solidFill>
                <a:latin typeface="Calibri"/>
              </a:defRPr>
            </a:pPr>
            <a:r>
              <a:t>Behavioral Pipeline</a:t>
            </a:r>
          </a:p>
        </p:txBody>
      </p:sp>
      <p:sp>
        <p:nvSpPr>
          <p:cNvPr id="6" name="TextBox 5"/>
          <p:cNvSpPr txBox="1"/>
          <p:nvPr/>
        </p:nvSpPr>
        <p:spPr>
          <a:xfrm>
            <a:off x="731520" y="2286000"/>
            <a:ext cx="5029200" cy="2743200"/>
          </a:xfrm>
          <a:prstGeom prst="rect">
            <a:avLst/>
          </a:prstGeom>
          <a:noFill/>
        </p:spPr>
        <p:txBody>
          <a:bodyPr wrap="square">
            <a:spAutoFit/>
          </a:bodyPr>
          <a:lstStyle/>
          <a:p>
            <a:pPr>
              <a:spcAft>
                <a:spcPts val="800"/>
              </a:spcAft>
              <a:defRPr sz="1600">
                <a:solidFill>
                  <a:srgbClr val="333333"/>
                </a:solidFill>
                <a:latin typeface="Calibri"/>
              </a:defRPr>
            </a:pPr>
            <a:r>
              <a:t>Parsed SMS messages into structured transactions</a:t>
            </a:r>
          </a:p>
          <a:p>
            <a:pPr>
              <a:spcAft>
                <a:spcPts val="800"/>
              </a:spcAft>
              <a:defRPr sz="1600">
                <a:solidFill>
                  <a:srgbClr val="333333"/>
                </a:solidFill>
                <a:latin typeface="Calibri"/>
              </a:defRPr>
            </a:pPr>
            <a:r>
              <a:t>Standardized 6 transaction types + IN/OUT direction</a:t>
            </a:r>
          </a:p>
          <a:p>
            <a:pPr>
              <a:spcAft>
                <a:spcPts val="800"/>
              </a:spcAft>
              <a:defRPr sz="1600">
                <a:solidFill>
                  <a:srgbClr val="333333"/>
                </a:solidFill>
                <a:latin typeface="Calibri"/>
              </a:defRPr>
            </a:pPr>
            <a:r>
              <a:t>Engineered 15 user-level features (amounts, timing, ratios)</a:t>
            </a:r>
          </a:p>
          <a:p>
            <a:pPr>
              <a:spcAft>
                <a:spcPts val="800"/>
              </a:spcAft>
              <a:defRPr sz="1600">
                <a:solidFill>
                  <a:srgbClr val="333333"/>
                </a:solidFill>
                <a:latin typeface="Calibri"/>
              </a:defRPr>
            </a:pPr>
            <a:r>
              <a:t>Excluded leakage features (frequency, velocity, count)</a:t>
            </a:r>
          </a:p>
        </p:txBody>
      </p:sp>
      <p:sp>
        <p:nvSpPr>
          <p:cNvPr id="7" name="TextBox 6"/>
          <p:cNvSpPr txBox="1"/>
          <p:nvPr/>
        </p:nvSpPr>
        <p:spPr>
          <a:xfrm>
            <a:off x="6400800" y="1828800"/>
            <a:ext cx="5029200" cy="365760"/>
          </a:xfrm>
          <a:prstGeom prst="rect">
            <a:avLst/>
          </a:prstGeom>
          <a:noFill/>
        </p:spPr>
        <p:txBody>
          <a:bodyPr wrap="square">
            <a:spAutoFit/>
          </a:bodyPr>
          <a:lstStyle/>
          <a:p>
            <a:pPr algn="l">
              <a:defRPr sz="2000" b="1">
                <a:solidFill>
                  <a:srgbClr val="E67E22"/>
                </a:solidFill>
                <a:latin typeface="Calibri"/>
              </a:defRPr>
            </a:pPr>
            <a:r>
              <a:t>Demographic Pipeline</a:t>
            </a:r>
          </a:p>
        </p:txBody>
      </p:sp>
      <p:sp>
        <p:nvSpPr>
          <p:cNvPr id="8" name="TextBox 7"/>
          <p:cNvSpPr txBox="1"/>
          <p:nvPr/>
        </p:nvSpPr>
        <p:spPr>
          <a:xfrm>
            <a:off x="6400800" y="2286000"/>
            <a:ext cx="5029200" cy="2743200"/>
          </a:xfrm>
          <a:prstGeom prst="rect">
            <a:avLst/>
          </a:prstGeom>
          <a:noFill/>
        </p:spPr>
        <p:txBody>
          <a:bodyPr wrap="square">
            <a:spAutoFit/>
          </a:bodyPr>
          <a:lstStyle/>
          <a:p>
            <a:pPr>
              <a:spcAft>
                <a:spcPts val="800"/>
              </a:spcAft>
              <a:defRPr sz="1600">
                <a:solidFill>
                  <a:srgbClr val="333333"/>
                </a:solidFill>
                <a:latin typeface="Calibri"/>
              </a:defRPr>
            </a:pPr>
            <a:r>
              <a:t>Normalized age ranges, gender, income brackets</a:t>
            </a:r>
          </a:p>
          <a:p>
            <a:pPr>
              <a:spcAft>
                <a:spcPts val="800"/>
              </a:spcAft>
              <a:defRPr sz="1600">
                <a:solidFill>
                  <a:srgbClr val="333333"/>
                </a:solidFill>
                <a:latin typeface="Calibri"/>
              </a:defRPr>
            </a:pPr>
            <a:r>
              <a:t>Grouped 8 professions into 5 standard categories</a:t>
            </a:r>
          </a:p>
          <a:p>
            <a:pPr>
              <a:spcAft>
                <a:spcPts val="800"/>
              </a:spcAft>
              <a:defRPr sz="1600">
                <a:solidFill>
                  <a:srgbClr val="333333"/>
                </a:solidFill>
                <a:latin typeface="Calibri"/>
              </a:defRPr>
            </a:pPr>
            <a:r>
              <a:t>Standardized education to 4 levels</a:t>
            </a:r>
          </a:p>
          <a:p>
            <a:pPr>
              <a:spcAft>
                <a:spcPts val="800"/>
              </a:spcAft>
              <a:defRPr sz="1600">
                <a:solidFill>
                  <a:srgbClr val="333333"/>
                </a:solidFill>
                <a:latin typeface="Calibri"/>
              </a:defRPr>
            </a:pPr>
            <a:r>
              <a:t>Fixed encoding issues (Yaoundé), simplified geography</a:t>
            </a:r>
          </a:p>
        </p:txBody>
      </p:sp>
      <p:sp>
        <p:nvSpPr>
          <p:cNvPr id="9" name="Rectangle 8"/>
          <p:cNvSpPr/>
          <p:nvPr/>
        </p:nvSpPr>
        <p:spPr>
          <a:xfrm>
            <a:off x="731520" y="5029200"/>
            <a:ext cx="10515600" cy="10972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5120640"/>
            <a:ext cx="10058400" cy="365760"/>
          </a:xfrm>
          <a:prstGeom prst="rect">
            <a:avLst/>
          </a:prstGeom>
          <a:noFill/>
        </p:spPr>
        <p:txBody>
          <a:bodyPr wrap="square">
            <a:spAutoFit/>
          </a:bodyPr>
          <a:lstStyle/>
          <a:p>
            <a:pPr algn="l">
              <a:defRPr sz="1600" b="1">
                <a:solidFill>
                  <a:srgbClr val="1B2A4A"/>
                </a:solidFill>
                <a:latin typeface="Calibri"/>
              </a:defRPr>
            </a:pPr>
            <a:r>
              <a:t>Data Leakage Prevention</a:t>
            </a:r>
          </a:p>
        </p:txBody>
      </p:sp>
      <p:sp>
        <p:nvSpPr>
          <p:cNvPr id="11" name="TextBox 10"/>
          <p:cNvSpPr txBox="1"/>
          <p:nvPr/>
        </p:nvSpPr>
        <p:spPr>
          <a:xfrm>
            <a:off x="914400" y="5486400"/>
            <a:ext cx="10058400" cy="457200"/>
          </a:xfrm>
          <a:prstGeom prst="rect">
            <a:avLst/>
          </a:prstGeom>
          <a:noFill/>
        </p:spPr>
        <p:txBody>
          <a:bodyPr wrap="square">
            <a:spAutoFit/>
          </a:bodyPr>
          <a:lstStyle/>
          <a:p>
            <a:pPr algn="l">
              <a:defRPr sz="1400" b="0">
                <a:solidFill>
                  <a:srgbClr val="333333"/>
                </a:solidFill>
                <a:latin typeface="Calibri"/>
              </a:defRPr>
            </a:pPr>
            <a:r>
              <a:t>Excluded: txn_count, monthly_txn_frequency, txn_velocity_7d, data_source (all overlap with target)</a:t>
            </a:r>
          </a:p>
        </p:txBody>
      </p:sp>
      <p:sp>
        <p:nvSpPr>
          <p:cNvPr id="12" name="TextBox 11"/>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4/12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EDA Highlights</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Key patterns in the data</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10515600" cy="4114800"/>
          </a:xfrm>
          <a:prstGeom prst="rect">
            <a:avLst/>
          </a:prstGeom>
          <a:noFill/>
        </p:spPr>
        <p:txBody>
          <a:bodyPr wrap="square">
            <a:spAutoFit/>
          </a:bodyPr>
          <a:lstStyle/>
          <a:p>
            <a:pPr>
              <a:spcAft>
                <a:spcPts val="800"/>
              </a:spcAft>
              <a:defRPr sz="1800">
                <a:solidFill>
                  <a:srgbClr val="333333"/>
                </a:solidFill>
                <a:latin typeface="Calibri"/>
              </a:defRPr>
            </a:pPr>
            <a:r>
              <a:t>Micro-transactions dominate: median = 500 XAF (~$0.80), mean = 7,454 XAF (skewness &gt; 12)</a:t>
            </a:r>
          </a:p>
          <a:p>
            <a:pPr>
              <a:spcAft>
                <a:spcPts val="800"/>
              </a:spcAft>
              <a:defRPr sz="1800">
                <a:solidFill>
                  <a:srgbClr val="333333"/>
                </a:solidFill>
                <a:latin typeface="Calibri"/>
              </a:defRPr>
            </a:pPr>
            <a:r>
              <a:t>77.5% outbound transactions (transfers, airtime, payments)</a:t>
            </a:r>
          </a:p>
          <a:p>
            <a:pPr>
              <a:spcAft>
                <a:spcPts val="800"/>
              </a:spcAft>
              <a:defRPr sz="1800">
                <a:solidFill>
                  <a:srgbClr val="333333"/>
                </a:solidFill>
                <a:latin typeface="Calibri"/>
              </a:defRPr>
            </a:pPr>
            <a:r>
              <a:t>Evening peak (17:00–20:00) consistent across all days</a:t>
            </a:r>
          </a:p>
          <a:p>
            <a:pPr>
              <a:spcAft>
                <a:spcPts val="800"/>
              </a:spcAft>
              <a:defRPr sz="1800">
                <a:solidFill>
                  <a:srgbClr val="333333"/>
                </a:solidFill>
                <a:latin typeface="Calibri"/>
              </a:defRPr>
            </a:pPr>
            <a:r>
              <a:t>High-activity users: many small transactions; Low-activity: fewer but larger</a:t>
            </a:r>
          </a:p>
          <a:p>
            <a:pPr>
              <a:spcAft>
                <a:spcPts val="800"/>
              </a:spcAft>
              <a:defRPr sz="1800">
                <a:solidFill>
                  <a:srgbClr val="333333"/>
                </a:solidFill>
                <a:latin typeface="Calibri"/>
              </a:defRPr>
            </a:pPr>
            <a:r>
              <a:t>Balanced classes: ~23 users per activity level (quantile-based split)</a:t>
            </a:r>
          </a:p>
        </p:txBody>
      </p:sp>
      <p:sp>
        <p:nvSpPr>
          <p:cNvPr id="6" name="Rectangle 5"/>
          <p:cNvSpPr/>
          <p:nvPr/>
        </p:nvSpPr>
        <p:spPr>
          <a:xfrm>
            <a:off x="731520" y="5029200"/>
            <a:ext cx="10515600" cy="10972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166360"/>
            <a:ext cx="10058400" cy="822960"/>
          </a:xfrm>
          <a:prstGeom prst="rect">
            <a:avLst/>
          </a:prstGeom>
          <a:noFill/>
        </p:spPr>
        <p:txBody>
          <a:bodyPr wrap="square">
            <a:spAutoFit/>
          </a:bodyPr>
          <a:lstStyle/>
          <a:p>
            <a:pPr algn="l">
              <a:defRPr sz="1600" b="0">
                <a:solidFill>
                  <a:srgbClr val="1B2A4A"/>
                </a:solidFill>
                <a:latin typeface="Calibri"/>
              </a:defRPr>
            </a:pPr>
            <a:r>
              <a:t>Key insight: Transaction frequency is more stable than amount for classification. How a user transacts (types, timing, direction) predicts engagement level.</a:t>
            </a:r>
          </a:p>
        </p:txBody>
      </p:sp>
      <p:sp>
        <p:nvSpPr>
          <p:cNvPr id="8" name="TextBox 7"/>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5/12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Modeling Approach</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3 models, 2 feature sets, stratified evaluation</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2011680"/>
            <a:ext cx="3291840" cy="18288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2148840"/>
            <a:ext cx="2926080" cy="365760"/>
          </a:xfrm>
          <a:prstGeom prst="rect">
            <a:avLst/>
          </a:prstGeom>
          <a:noFill/>
        </p:spPr>
        <p:txBody>
          <a:bodyPr wrap="square">
            <a:spAutoFit/>
          </a:bodyPr>
          <a:lstStyle/>
          <a:p>
            <a:pPr algn="l">
              <a:defRPr sz="1800" b="1">
                <a:solidFill>
                  <a:srgbClr val="FFFFFF"/>
                </a:solidFill>
                <a:latin typeface="Calibri"/>
              </a:defRPr>
            </a:pPr>
            <a:r>
              <a:t>Logistic Regression</a:t>
            </a:r>
          </a:p>
        </p:txBody>
      </p:sp>
      <p:sp>
        <p:nvSpPr>
          <p:cNvPr id="7" name="TextBox 6"/>
          <p:cNvSpPr txBox="1"/>
          <p:nvPr/>
        </p:nvSpPr>
        <p:spPr>
          <a:xfrm>
            <a:off x="914400" y="2606040"/>
            <a:ext cx="2926080" cy="1097280"/>
          </a:xfrm>
          <a:prstGeom prst="rect">
            <a:avLst/>
          </a:prstGeom>
          <a:noFill/>
        </p:spPr>
        <p:txBody>
          <a:bodyPr wrap="square">
            <a:spAutoFit/>
          </a:bodyPr>
          <a:lstStyle/>
          <a:p>
            <a:pPr algn="l">
              <a:defRPr sz="1300" b="0">
                <a:solidFill>
                  <a:srgbClr val="FFFFFF"/>
                </a:solidFill>
                <a:latin typeface="Calibri"/>
              </a:defRPr>
            </a:pPr>
            <a:r>
              <a:t>Linear baseline</a:t>
            </a:r>
            <a:br/>
            <a:r>
              <a:t>C=1, balanced weights</a:t>
            </a:r>
            <a:br/>
            <a:r>
              <a:t>Full interpretability</a:t>
            </a:r>
          </a:p>
        </p:txBody>
      </p:sp>
      <p:sp>
        <p:nvSpPr>
          <p:cNvPr id="8" name="Rectangle 7"/>
          <p:cNvSpPr/>
          <p:nvPr/>
        </p:nvSpPr>
        <p:spPr>
          <a:xfrm>
            <a:off x="4389120" y="2011680"/>
            <a:ext cx="3291840" cy="18288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2148840"/>
            <a:ext cx="2926080" cy="365760"/>
          </a:xfrm>
          <a:prstGeom prst="rect">
            <a:avLst/>
          </a:prstGeom>
          <a:noFill/>
        </p:spPr>
        <p:txBody>
          <a:bodyPr wrap="square">
            <a:spAutoFit/>
          </a:bodyPr>
          <a:lstStyle/>
          <a:p>
            <a:pPr algn="l">
              <a:defRPr sz="1800" b="1">
                <a:solidFill>
                  <a:srgbClr val="FFFFFF"/>
                </a:solidFill>
                <a:latin typeface="Calibri"/>
              </a:defRPr>
            </a:pPr>
            <a:r>
              <a:t>Random Forest</a:t>
            </a:r>
          </a:p>
        </p:txBody>
      </p:sp>
      <p:sp>
        <p:nvSpPr>
          <p:cNvPr id="10" name="TextBox 9"/>
          <p:cNvSpPr txBox="1"/>
          <p:nvPr/>
        </p:nvSpPr>
        <p:spPr>
          <a:xfrm>
            <a:off x="4572000" y="2606040"/>
            <a:ext cx="2926080" cy="1097280"/>
          </a:xfrm>
          <a:prstGeom prst="rect">
            <a:avLst/>
          </a:prstGeom>
          <a:noFill/>
        </p:spPr>
        <p:txBody>
          <a:bodyPr wrap="square">
            <a:spAutoFit/>
          </a:bodyPr>
          <a:lstStyle/>
          <a:p>
            <a:pPr algn="l">
              <a:defRPr sz="1300" b="0">
                <a:solidFill>
                  <a:srgbClr val="FFFFFF"/>
                </a:solidFill>
                <a:latin typeface="Calibri"/>
              </a:defRPr>
            </a:pPr>
            <a:r>
              <a:t>Ensemble of 200 trees</a:t>
            </a:r>
            <a:br/>
            <a:r>
              <a:t>max_depth=5</a:t>
            </a:r>
            <a:br/>
            <a:r>
              <a:t>Feature importance</a:t>
            </a:r>
          </a:p>
        </p:txBody>
      </p:sp>
      <p:sp>
        <p:nvSpPr>
          <p:cNvPr id="11" name="Rectangle 10"/>
          <p:cNvSpPr/>
          <p:nvPr/>
        </p:nvSpPr>
        <p:spPr>
          <a:xfrm>
            <a:off x="8046720" y="2011680"/>
            <a:ext cx="3291840" cy="18288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2148840"/>
            <a:ext cx="2926080" cy="365760"/>
          </a:xfrm>
          <a:prstGeom prst="rect">
            <a:avLst/>
          </a:prstGeom>
          <a:noFill/>
        </p:spPr>
        <p:txBody>
          <a:bodyPr wrap="square">
            <a:spAutoFit/>
          </a:bodyPr>
          <a:lstStyle/>
          <a:p>
            <a:pPr algn="l">
              <a:defRPr sz="1800" b="1">
                <a:solidFill>
                  <a:srgbClr val="FFFFFF"/>
                </a:solidFill>
                <a:latin typeface="Calibri"/>
              </a:defRPr>
            </a:pPr>
            <a:r>
              <a:t>XGBoost</a:t>
            </a:r>
          </a:p>
        </p:txBody>
      </p:sp>
      <p:sp>
        <p:nvSpPr>
          <p:cNvPr id="13" name="TextBox 12"/>
          <p:cNvSpPr txBox="1"/>
          <p:nvPr/>
        </p:nvSpPr>
        <p:spPr>
          <a:xfrm>
            <a:off x="8229600" y="2606040"/>
            <a:ext cx="2926080" cy="1097280"/>
          </a:xfrm>
          <a:prstGeom prst="rect">
            <a:avLst/>
          </a:prstGeom>
          <a:noFill/>
        </p:spPr>
        <p:txBody>
          <a:bodyPr wrap="square">
            <a:spAutoFit/>
          </a:bodyPr>
          <a:lstStyle/>
          <a:p>
            <a:pPr algn="l">
              <a:defRPr sz="1300" b="0">
                <a:solidFill>
                  <a:srgbClr val="FFFFFF"/>
                </a:solidFill>
                <a:latin typeface="Calibri"/>
              </a:defRPr>
            </a:pPr>
            <a:r>
              <a:t>Gradient boosting</a:t>
            </a:r>
            <a:br/>
            <a:r>
              <a:t>max_depth=3, lr=0.1</a:t>
            </a:r>
            <a:br/>
            <a:r>
              <a:t>Best prior performance</a:t>
            </a:r>
          </a:p>
        </p:txBody>
      </p:sp>
      <p:sp>
        <p:nvSpPr>
          <p:cNvPr id="14" name="TextBox 13"/>
          <p:cNvSpPr txBox="1"/>
          <p:nvPr/>
        </p:nvSpPr>
        <p:spPr>
          <a:xfrm>
            <a:off x="731520" y="4206240"/>
            <a:ext cx="10515600" cy="2286000"/>
          </a:xfrm>
          <a:prstGeom prst="rect">
            <a:avLst/>
          </a:prstGeom>
          <a:noFill/>
        </p:spPr>
        <p:txBody>
          <a:bodyPr wrap="square">
            <a:spAutoFit/>
          </a:bodyPr>
          <a:lstStyle/>
          <a:p>
            <a:pPr>
              <a:spcAft>
                <a:spcPts val="800"/>
              </a:spcAft>
              <a:defRPr sz="1600">
                <a:solidFill>
                  <a:srgbClr val="333333"/>
                </a:solidFill>
                <a:latin typeface="Calibri"/>
              </a:defRPr>
            </a:pPr>
            <a:r>
              <a:t>70/30 stratified split | 5-fold stratified cross-validation</a:t>
            </a:r>
          </a:p>
          <a:p>
            <a:pPr>
              <a:spcAft>
                <a:spcPts val="800"/>
              </a:spcAft>
              <a:defRPr sz="1600">
                <a:solidFill>
                  <a:srgbClr val="333333"/>
                </a:solidFill>
                <a:latin typeface="Calibri"/>
              </a:defRPr>
            </a:pPr>
            <a:r>
              <a:t>Comparison: Behavioral Only (15 features) vs Behavioral + Demographic (29 features)</a:t>
            </a:r>
          </a:p>
          <a:p>
            <a:pPr>
              <a:spcAft>
                <a:spcPts val="800"/>
              </a:spcAft>
              <a:defRPr sz="1600">
                <a:solidFill>
                  <a:srgbClr val="333333"/>
                </a:solidFill>
                <a:latin typeface="Calibri"/>
              </a:defRPr>
            </a:pPr>
            <a:r>
              <a:t>Primary metric: Macro F1 (treats all 3 classes equally)</a:t>
            </a:r>
          </a:p>
          <a:p>
            <a:pPr>
              <a:spcAft>
                <a:spcPts val="800"/>
              </a:spcAft>
              <a:defRPr sz="1600">
                <a:solidFill>
                  <a:srgbClr val="333333"/>
                </a:solidFill>
                <a:latin typeface="Calibri"/>
              </a:defRPr>
            </a:pPr>
            <a:r>
              <a:t>random_state=42 throughout for reproducibility</a:t>
            </a:r>
          </a:p>
        </p:txBody>
      </p:sp>
      <p:sp>
        <p:nvSpPr>
          <p:cNvPr id="15" name="TextBox 14"/>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6/12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Results</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Test set performance (F1 Macro)</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97280" y="2011680"/>
            <a:ext cx="3200400" cy="457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88720" y="2057400"/>
            <a:ext cx="3017520" cy="457200"/>
          </a:xfrm>
          <a:prstGeom prst="rect">
            <a:avLst/>
          </a:prstGeom>
          <a:noFill/>
        </p:spPr>
        <p:txBody>
          <a:bodyPr wrap="square">
            <a:spAutoFit/>
          </a:bodyPr>
          <a:lstStyle/>
          <a:p>
            <a:pPr algn="ctr">
              <a:defRPr sz="1400" b="1">
                <a:solidFill>
                  <a:srgbClr val="FFFFFF"/>
                </a:solidFill>
                <a:latin typeface="Calibri"/>
              </a:defRPr>
            </a:pPr>
            <a:r>
              <a:t>Model</a:t>
            </a:r>
          </a:p>
        </p:txBody>
      </p:sp>
      <p:sp>
        <p:nvSpPr>
          <p:cNvPr id="7" name="Rectangle 6"/>
          <p:cNvSpPr/>
          <p:nvPr/>
        </p:nvSpPr>
        <p:spPr>
          <a:xfrm>
            <a:off x="4297680" y="2011680"/>
            <a:ext cx="2011680" cy="457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89120" y="2057400"/>
            <a:ext cx="1828800" cy="457200"/>
          </a:xfrm>
          <a:prstGeom prst="rect">
            <a:avLst/>
          </a:prstGeom>
          <a:noFill/>
        </p:spPr>
        <p:txBody>
          <a:bodyPr wrap="square">
            <a:spAutoFit/>
          </a:bodyPr>
          <a:lstStyle/>
          <a:p>
            <a:pPr algn="ctr">
              <a:defRPr sz="1400" b="1">
                <a:solidFill>
                  <a:srgbClr val="FFFFFF"/>
                </a:solidFill>
                <a:latin typeface="Calibri"/>
              </a:defRPr>
            </a:pPr>
            <a:r>
              <a:t>Behav F1m</a:t>
            </a:r>
          </a:p>
        </p:txBody>
      </p:sp>
      <p:sp>
        <p:nvSpPr>
          <p:cNvPr id="9" name="Rectangle 8"/>
          <p:cNvSpPr/>
          <p:nvPr/>
        </p:nvSpPr>
        <p:spPr>
          <a:xfrm>
            <a:off x="6309360" y="2011680"/>
            <a:ext cx="2286000" cy="457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2057400"/>
            <a:ext cx="2103120" cy="457200"/>
          </a:xfrm>
          <a:prstGeom prst="rect">
            <a:avLst/>
          </a:prstGeom>
          <a:noFill/>
        </p:spPr>
        <p:txBody>
          <a:bodyPr wrap="square">
            <a:spAutoFit/>
          </a:bodyPr>
          <a:lstStyle/>
          <a:p>
            <a:pPr algn="ctr">
              <a:defRPr sz="1400" b="1">
                <a:solidFill>
                  <a:srgbClr val="FFFFFF"/>
                </a:solidFill>
                <a:latin typeface="Calibri"/>
              </a:defRPr>
            </a:pPr>
            <a:r>
              <a:t>Combined F1m</a:t>
            </a:r>
          </a:p>
        </p:txBody>
      </p:sp>
      <p:sp>
        <p:nvSpPr>
          <p:cNvPr id="11" name="Rectangle 10"/>
          <p:cNvSpPr/>
          <p:nvPr/>
        </p:nvSpPr>
        <p:spPr>
          <a:xfrm>
            <a:off x="8595359" y="2011680"/>
            <a:ext cx="1828800" cy="4572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799" y="2057400"/>
            <a:ext cx="1645920" cy="457200"/>
          </a:xfrm>
          <a:prstGeom prst="rect">
            <a:avLst/>
          </a:prstGeom>
          <a:noFill/>
        </p:spPr>
        <p:txBody>
          <a:bodyPr wrap="square">
            <a:spAutoFit/>
          </a:bodyPr>
          <a:lstStyle/>
          <a:p>
            <a:pPr algn="ctr">
              <a:defRPr sz="1400" b="1">
                <a:solidFill>
                  <a:srgbClr val="FFFFFF"/>
                </a:solidFill>
                <a:latin typeface="Calibri"/>
              </a:defRPr>
            </a:pPr>
            <a:r>
              <a:t>Delta</a:t>
            </a:r>
          </a:p>
        </p:txBody>
      </p:sp>
      <p:sp>
        <p:nvSpPr>
          <p:cNvPr id="13" name="Rectangle 12"/>
          <p:cNvSpPr/>
          <p:nvPr/>
        </p:nvSpPr>
        <p:spPr>
          <a:xfrm>
            <a:off x="1097280" y="2468880"/>
            <a:ext cx="32004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2514600"/>
            <a:ext cx="3017520" cy="457200"/>
          </a:xfrm>
          <a:prstGeom prst="rect">
            <a:avLst/>
          </a:prstGeom>
          <a:noFill/>
        </p:spPr>
        <p:txBody>
          <a:bodyPr wrap="square">
            <a:spAutoFit/>
          </a:bodyPr>
          <a:lstStyle/>
          <a:p>
            <a:pPr algn="ctr">
              <a:defRPr sz="1400" b="0">
                <a:solidFill>
                  <a:srgbClr val="333333"/>
                </a:solidFill>
                <a:latin typeface="Calibri"/>
              </a:defRPr>
            </a:pPr>
            <a:r>
              <a:t>Majority Baseline</a:t>
            </a:r>
          </a:p>
        </p:txBody>
      </p:sp>
      <p:sp>
        <p:nvSpPr>
          <p:cNvPr id="15" name="Rectangle 14"/>
          <p:cNvSpPr/>
          <p:nvPr/>
        </p:nvSpPr>
        <p:spPr>
          <a:xfrm>
            <a:off x="4297680" y="2468880"/>
            <a:ext cx="201168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89120" y="2514600"/>
            <a:ext cx="1828800" cy="457200"/>
          </a:xfrm>
          <a:prstGeom prst="rect">
            <a:avLst/>
          </a:prstGeom>
          <a:noFill/>
        </p:spPr>
        <p:txBody>
          <a:bodyPr wrap="square">
            <a:spAutoFit/>
          </a:bodyPr>
          <a:lstStyle/>
          <a:p>
            <a:pPr algn="ctr">
              <a:defRPr sz="1400" b="0">
                <a:solidFill>
                  <a:srgbClr val="333333"/>
                </a:solidFill>
                <a:latin typeface="Calibri"/>
              </a:defRPr>
            </a:pPr>
            <a:r>
              <a:t>0.167</a:t>
            </a:r>
          </a:p>
        </p:txBody>
      </p:sp>
      <p:sp>
        <p:nvSpPr>
          <p:cNvPr id="17" name="Rectangle 16"/>
          <p:cNvSpPr/>
          <p:nvPr/>
        </p:nvSpPr>
        <p:spPr>
          <a:xfrm>
            <a:off x="6309360" y="2468880"/>
            <a:ext cx="22860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00800" y="2514600"/>
            <a:ext cx="2103120" cy="457200"/>
          </a:xfrm>
          <a:prstGeom prst="rect">
            <a:avLst/>
          </a:prstGeom>
          <a:noFill/>
        </p:spPr>
        <p:txBody>
          <a:bodyPr wrap="square">
            <a:spAutoFit/>
          </a:bodyPr>
          <a:lstStyle/>
          <a:p>
            <a:pPr algn="ctr">
              <a:defRPr sz="1400" b="0">
                <a:solidFill>
                  <a:srgbClr val="333333"/>
                </a:solidFill>
                <a:latin typeface="Calibri"/>
              </a:defRPr>
            </a:pPr>
            <a:r>
              <a:t>—</a:t>
            </a:r>
          </a:p>
        </p:txBody>
      </p:sp>
      <p:sp>
        <p:nvSpPr>
          <p:cNvPr id="19" name="Rectangle 18"/>
          <p:cNvSpPr/>
          <p:nvPr/>
        </p:nvSpPr>
        <p:spPr>
          <a:xfrm>
            <a:off x="8595359" y="2468880"/>
            <a:ext cx="18288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799" y="2514600"/>
            <a:ext cx="1645920" cy="457200"/>
          </a:xfrm>
          <a:prstGeom prst="rect">
            <a:avLst/>
          </a:prstGeom>
          <a:noFill/>
        </p:spPr>
        <p:txBody>
          <a:bodyPr wrap="square">
            <a:spAutoFit/>
          </a:bodyPr>
          <a:lstStyle/>
          <a:p>
            <a:pPr algn="ctr">
              <a:defRPr sz="1400" b="0">
                <a:solidFill>
                  <a:srgbClr val="333333"/>
                </a:solidFill>
                <a:latin typeface="Calibri"/>
              </a:defRPr>
            </a:pPr>
            <a:r>
              <a:t>—</a:t>
            </a:r>
          </a:p>
        </p:txBody>
      </p:sp>
      <p:sp>
        <p:nvSpPr>
          <p:cNvPr id="21" name="Rectangle 20"/>
          <p:cNvSpPr/>
          <p:nvPr/>
        </p:nvSpPr>
        <p:spPr>
          <a:xfrm>
            <a:off x="1097280" y="2926080"/>
            <a:ext cx="3200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88720" y="2971800"/>
            <a:ext cx="3017520" cy="457200"/>
          </a:xfrm>
          <a:prstGeom prst="rect">
            <a:avLst/>
          </a:prstGeom>
          <a:noFill/>
        </p:spPr>
        <p:txBody>
          <a:bodyPr wrap="square">
            <a:spAutoFit/>
          </a:bodyPr>
          <a:lstStyle/>
          <a:p>
            <a:pPr algn="ctr">
              <a:defRPr sz="1400" b="0">
                <a:solidFill>
                  <a:srgbClr val="333333"/>
                </a:solidFill>
                <a:latin typeface="Calibri"/>
              </a:defRPr>
            </a:pPr>
            <a:r>
              <a:t>Stratified Baseline</a:t>
            </a:r>
          </a:p>
        </p:txBody>
      </p:sp>
      <p:sp>
        <p:nvSpPr>
          <p:cNvPr id="23" name="Rectangle 22"/>
          <p:cNvSpPr/>
          <p:nvPr/>
        </p:nvSpPr>
        <p:spPr>
          <a:xfrm>
            <a:off x="4297680" y="2926080"/>
            <a:ext cx="201168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89120" y="2971800"/>
            <a:ext cx="1828800" cy="457200"/>
          </a:xfrm>
          <a:prstGeom prst="rect">
            <a:avLst/>
          </a:prstGeom>
          <a:noFill/>
        </p:spPr>
        <p:txBody>
          <a:bodyPr wrap="square">
            <a:spAutoFit/>
          </a:bodyPr>
          <a:lstStyle/>
          <a:p>
            <a:pPr algn="ctr">
              <a:defRPr sz="1400" b="0">
                <a:solidFill>
                  <a:srgbClr val="333333"/>
                </a:solidFill>
                <a:latin typeface="Calibri"/>
              </a:defRPr>
            </a:pPr>
            <a:r>
              <a:t>0.315</a:t>
            </a:r>
          </a:p>
        </p:txBody>
      </p:sp>
      <p:sp>
        <p:nvSpPr>
          <p:cNvPr id="25" name="Rectangle 24"/>
          <p:cNvSpPr/>
          <p:nvPr/>
        </p:nvSpPr>
        <p:spPr>
          <a:xfrm>
            <a:off x="6309360" y="2926080"/>
            <a:ext cx="22860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2971800"/>
            <a:ext cx="2103120" cy="457200"/>
          </a:xfrm>
          <a:prstGeom prst="rect">
            <a:avLst/>
          </a:prstGeom>
          <a:noFill/>
        </p:spPr>
        <p:txBody>
          <a:bodyPr wrap="square">
            <a:spAutoFit/>
          </a:bodyPr>
          <a:lstStyle/>
          <a:p>
            <a:pPr algn="ctr">
              <a:defRPr sz="1400" b="0">
                <a:solidFill>
                  <a:srgbClr val="333333"/>
                </a:solidFill>
                <a:latin typeface="Calibri"/>
              </a:defRPr>
            </a:pPr>
            <a:r>
              <a:t>—</a:t>
            </a:r>
          </a:p>
        </p:txBody>
      </p:sp>
      <p:sp>
        <p:nvSpPr>
          <p:cNvPr id="27" name="Rectangle 26"/>
          <p:cNvSpPr/>
          <p:nvPr/>
        </p:nvSpPr>
        <p:spPr>
          <a:xfrm>
            <a:off x="8595359" y="2926080"/>
            <a:ext cx="1828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686799" y="2971800"/>
            <a:ext cx="1645920" cy="457200"/>
          </a:xfrm>
          <a:prstGeom prst="rect">
            <a:avLst/>
          </a:prstGeom>
          <a:noFill/>
        </p:spPr>
        <p:txBody>
          <a:bodyPr wrap="square">
            <a:spAutoFit/>
          </a:bodyPr>
          <a:lstStyle/>
          <a:p>
            <a:pPr algn="ctr">
              <a:defRPr sz="1400" b="0">
                <a:solidFill>
                  <a:srgbClr val="333333"/>
                </a:solidFill>
                <a:latin typeface="Calibri"/>
              </a:defRPr>
            </a:pPr>
            <a:r>
              <a:t>—</a:t>
            </a:r>
          </a:p>
        </p:txBody>
      </p:sp>
      <p:sp>
        <p:nvSpPr>
          <p:cNvPr id="29" name="Rectangle 28"/>
          <p:cNvSpPr/>
          <p:nvPr/>
        </p:nvSpPr>
        <p:spPr>
          <a:xfrm>
            <a:off x="1097280" y="3383280"/>
            <a:ext cx="32004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88720" y="3429000"/>
            <a:ext cx="3017520" cy="457200"/>
          </a:xfrm>
          <a:prstGeom prst="rect">
            <a:avLst/>
          </a:prstGeom>
          <a:noFill/>
        </p:spPr>
        <p:txBody>
          <a:bodyPr wrap="square">
            <a:spAutoFit/>
          </a:bodyPr>
          <a:lstStyle/>
          <a:p>
            <a:pPr algn="ctr">
              <a:defRPr sz="1400" b="0">
                <a:solidFill>
                  <a:srgbClr val="333333"/>
                </a:solidFill>
                <a:latin typeface="Calibri"/>
              </a:defRPr>
            </a:pPr>
            <a:r>
              <a:t>Logistic Regression</a:t>
            </a:r>
          </a:p>
        </p:txBody>
      </p:sp>
      <p:sp>
        <p:nvSpPr>
          <p:cNvPr id="31" name="Rectangle 30"/>
          <p:cNvSpPr/>
          <p:nvPr/>
        </p:nvSpPr>
        <p:spPr>
          <a:xfrm>
            <a:off x="4297680" y="3383280"/>
            <a:ext cx="201168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389120" y="3429000"/>
            <a:ext cx="1828800" cy="457200"/>
          </a:xfrm>
          <a:prstGeom prst="rect">
            <a:avLst/>
          </a:prstGeom>
          <a:noFill/>
        </p:spPr>
        <p:txBody>
          <a:bodyPr wrap="square">
            <a:spAutoFit/>
          </a:bodyPr>
          <a:lstStyle/>
          <a:p>
            <a:pPr algn="ctr">
              <a:defRPr sz="1400" b="0">
                <a:solidFill>
                  <a:srgbClr val="333333"/>
                </a:solidFill>
                <a:latin typeface="Calibri"/>
              </a:defRPr>
            </a:pPr>
            <a:r>
              <a:t>0.430</a:t>
            </a:r>
          </a:p>
        </p:txBody>
      </p:sp>
      <p:sp>
        <p:nvSpPr>
          <p:cNvPr id="33" name="Rectangle 32"/>
          <p:cNvSpPr/>
          <p:nvPr/>
        </p:nvSpPr>
        <p:spPr>
          <a:xfrm>
            <a:off x="6309360" y="3383280"/>
            <a:ext cx="22860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0" y="3429000"/>
            <a:ext cx="2103120" cy="457200"/>
          </a:xfrm>
          <a:prstGeom prst="rect">
            <a:avLst/>
          </a:prstGeom>
          <a:noFill/>
        </p:spPr>
        <p:txBody>
          <a:bodyPr wrap="square">
            <a:spAutoFit/>
          </a:bodyPr>
          <a:lstStyle/>
          <a:p>
            <a:pPr algn="ctr">
              <a:defRPr sz="1400" b="0">
                <a:solidFill>
                  <a:srgbClr val="333333"/>
                </a:solidFill>
                <a:latin typeface="Calibri"/>
              </a:defRPr>
            </a:pPr>
            <a:r>
              <a:t>0.423</a:t>
            </a:r>
          </a:p>
        </p:txBody>
      </p:sp>
      <p:sp>
        <p:nvSpPr>
          <p:cNvPr id="35" name="Rectangle 34"/>
          <p:cNvSpPr/>
          <p:nvPr/>
        </p:nvSpPr>
        <p:spPr>
          <a:xfrm>
            <a:off x="8595359" y="3383280"/>
            <a:ext cx="18288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686799" y="3429000"/>
            <a:ext cx="1645920" cy="457200"/>
          </a:xfrm>
          <a:prstGeom prst="rect">
            <a:avLst/>
          </a:prstGeom>
          <a:noFill/>
        </p:spPr>
        <p:txBody>
          <a:bodyPr wrap="square">
            <a:spAutoFit/>
          </a:bodyPr>
          <a:lstStyle/>
          <a:p>
            <a:pPr algn="ctr">
              <a:defRPr sz="1400" b="0">
                <a:solidFill>
                  <a:srgbClr val="333333"/>
                </a:solidFill>
                <a:latin typeface="Calibri"/>
              </a:defRPr>
            </a:pPr>
            <a:r>
              <a:t>-0.007</a:t>
            </a:r>
          </a:p>
        </p:txBody>
      </p:sp>
      <p:sp>
        <p:nvSpPr>
          <p:cNvPr id="37" name="Rectangle 36"/>
          <p:cNvSpPr/>
          <p:nvPr/>
        </p:nvSpPr>
        <p:spPr>
          <a:xfrm>
            <a:off x="1097280" y="3840480"/>
            <a:ext cx="3200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188720" y="3886200"/>
            <a:ext cx="3017520" cy="457200"/>
          </a:xfrm>
          <a:prstGeom prst="rect">
            <a:avLst/>
          </a:prstGeom>
          <a:noFill/>
        </p:spPr>
        <p:txBody>
          <a:bodyPr wrap="square">
            <a:spAutoFit/>
          </a:bodyPr>
          <a:lstStyle/>
          <a:p>
            <a:pPr algn="ctr">
              <a:defRPr sz="1400" b="0">
                <a:solidFill>
                  <a:srgbClr val="333333"/>
                </a:solidFill>
                <a:latin typeface="Calibri"/>
              </a:defRPr>
            </a:pPr>
            <a:r>
              <a:t>Random Forest</a:t>
            </a:r>
          </a:p>
        </p:txBody>
      </p:sp>
      <p:sp>
        <p:nvSpPr>
          <p:cNvPr id="39" name="Rectangle 38"/>
          <p:cNvSpPr/>
          <p:nvPr/>
        </p:nvSpPr>
        <p:spPr>
          <a:xfrm>
            <a:off x="4297680" y="3840480"/>
            <a:ext cx="201168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389120" y="3886200"/>
            <a:ext cx="1828800" cy="457200"/>
          </a:xfrm>
          <a:prstGeom prst="rect">
            <a:avLst/>
          </a:prstGeom>
          <a:noFill/>
        </p:spPr>
        <p:txBody>
          <a:bodyPr wrap="square">
            <a:spAutoFit/>
          </a:bodyPr>
          <a:lstStyle/>
          <a:p>
            <a:pPr algn="ctr">
              <a:defRPr sz="1400" b="0">
                <a:solidFill>
                  <a:srgbClr val="333333"/>
                </a:solidFill>
                <a:latin typeface="Calibri"/>
              </a:defRPr>
            </a:pPr>
            <a:r>
              <a:t>0.418</a:t>
            </a:r>
          </a:p>
        </p:txBody>
      </p:sp>
      <p:sp>
        <p:nvSpPr>
          <p:cNvPr id="41" name="Rectangle 40"/>
          <p:cNvSpPr/>
          <p:nvPr/>
        </p:nvSpPr>
        <p:spPr>
          <a:xfrm>
            <a:off x="6309360" y="3840480"/>
            <a:ext cx="22860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00800" y="3886200"/>
            <a:ext cx="2103120" cy="457200"/>
          </a:xfrm>
          <a:prstGeom prst="rect">
            <a:avLst/>
          </a:prstGeom>
          <a:noFill/>
        </p:spPr>
        <p:txBody>
          <a:bodyPr wrap="square">
            <a:spAutoFit/>
          </a:bodyPr>
          <a:lstStyle/>
          <a:p>
            <a:pPr algn="ctr">
              <a:defRPr sz="1400" b="0">
                <a:solidFill>
                  <a:srgbClr val="333333"/>
                </a:solidFill>
                <a:latin typeface="Calibri"/>
              </a:defRPr>
            </a:pPr>
            <a:r>
              <a:t>0.470</a:t>
            </a:r>
          </a:p>
        </p:txBody>
      </p:sp>
      <p:sp>
        <p:nvSpPr>
          <p:cNvPr id="43" name="Rectangle 42"/>
          <p:cNvSpPr/>
          <p:nvPr/>
        </p:nvSpPr>
        <p:spPr>
          <a:xfrm>
            <a:off x="8595359" y="3840480"/>
            <a:ext cx="18288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799" y="3886200"/>
            <a:ext cx="1645920" cy="457200"/>
          </a:xfrm>
          <a:prstGeom prst="rect">
            <a:avLst/>
          </a:prstGeom>
          <a:noFill/>
        </p:spPr>
        <p:txBody>
          <a:bodyPr wrap="square">
            <a:spAutoFit/>
          </a:bodyPr>
          <a:lstStyle/>
          <a:p>
            <a:pPr algn="ctr">
              <a:defRPr sz="1400" b="0">
                <a:solidFill>
                  <a:srgbClr val="333333"/>
                </a:solidFill>
                <a:latin typeface="Calibri"/>
              </a:defRPr>
            </a:pPr>
            <a:r>
              <a:t>+0.052</a:t>
            </a:r>
          </a:p>
        </p:txBody>
      </p:sp>
      <p:sp>
        <p:nvSpPr>
          <p:cNvPr id="45" name="Rectangle 44"/>
          <p:cNvSpPr/>
          <p:nvPr/>
        </p:nvSpPr>
        <p:spPr>
          <a:xfrm>
            <a:off x="1097280" y="4297680"/>
            <a:ext cx="32004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188720" y="4343400"/>
            <a:ext cx="3017520" cy="457200"/>
          </a:xfrm>
          <a:prstGeom prst="rect">
            <a:avLst/>
          </a:prstGeom>
          <a:noFill/>
        </p:spPr>
        <p:txBody>
          <a:bodyPr wrap="square">
            <a:spAutoFit/>
          </a:bodyPr>
          <a:lstStyle/>
          <a:p>
            <a:pPr algn="ctr">
              <a:defRPr sz="1400" b="1">
                <a:solidFill>
                  <a:srgbClr val="1B2A4A"/>
                </a:solidFill>
                <a:latin typeface="Calibri"/>
              </a:defRPr>
            </a:pPr>
            <a:r>
              <a:t>XGBoost</a:t>
            </a:r>
          </a:p>
        </p:txBody>
      </p:sp>
      <p:sp>
        <p:nvSpPr>
          <p:cNvPr id="47" name="Rectangle 46"/>
          <p:cNvSpPr/>
          <p:nvPr/>
        </p:nvSpPr>
        <p:spPr>
          <a:xfrm>
            <a:off x="4297680" y="4297680"/>
            <a:ext cx="201168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89120" y="4343400"/>
            <a:ext cx="1828800" cy="457200"/>
          </a:xfrm>
          <a:prstGeom prst="rect">
            <a:avLst/>
          </a:prstGeom>
          <a:noFill/>
        </p:spPr>
        <p:txBody>
          <a:bodyPr wrap="square">
            <a:spAutoFit/>
          </a:bodyPr>
          <a:lstStyle/>
          <a:p>
            <a:pPr algn="ctr">
              <a:defRPr sz="1400" b="1">
                <a:solidFill>
                  <a:srgbClr val="1B2A4A"/>
                </a:solidFill>
                <a:latin typeface="Calibri"/>
              </a:defRPr>
            </a:pPr>
            <a:r>
              <a:t>0.570</a:t>
            </a:r>
          </a:p>
        </p:txBody>
      </p:sp>
      <p:sp>
        <p:nvSpPr>
          <p:cNvPr id="49" name="Rectangle 48"/>
          <p:cNvSpPr/>
          <p:nvPr/>
        </p:nvSpPr>
        <p:spPr>
          <a:xfrm>
            <a:off x="6309360" y="4297680"/>
            <a:ext cx="22860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00800" y="4343400"/>
            <a:ext cx="2103120" cy="457200"/>
          </a:xfrm>
          <a:prstGeom prst="rect">
            <a:avLst/>
          </a:prstGeom>
          <a:noFill/>
        </p:spPr>
        <p:txBody>
          <a:bodyPr wrap="square">
            <a:spAutoFit/>
          </a:bodyPr>
          <a:lstStyle/>
          <a:p>
            <a:pPr algn="ctr">
              <a:defRPr sz="1400" b="1">
                <a:solidFill>
                  <a:srgbClr val="1B2A4A"/>
                </a:solidFill>
                <a:latin typeface="Calibri"/>
              </a:defRPr>
            </a:pPr>
            <a:r>
              <a:t>0.529</a:t>
            </a:r>
          </a:p>
        </p:txBody>
      </p:sp>
      <p:sp>
        <p:nvSpPr>
          <p:cNvPr id="51" name="Rectangle 50"/>
          <p:cNvSpPr/>
          <p:nvPr/>
        </p:nvSpPr>
        <p:spPr>
          <a:xfrm>
            <a:off x="8595359" y="4297680"/>
            <a:ext cx="1828800" cy="4572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686799" y="4343400"/>
            <a:ext cx="1645920" cy="457200"/>
          </a:xfrm>
          <a:prstGeom prst="rect">
            <a:avLst/>
          </a:prstGeom>
          <a:noFill/>
        </p:spPr>
        <p:txBody>
          <a:bodyPr wrap="square">
            <a:spAutoFit/>
          </a:bodyPr>
          <a:lstStyle/>
          <a:p>
            <a:pPr algn="ctr">
              <a:defRPr sz="1400" b="1">
                <a:solidFill>
                  <a:srgbClr val="1B2A4A"/>
                </a:solidFill>
                <a:latin typeface="Calibri"/>
              </a:defRPr>
            </a:pPr>
            <a:r>
              <a:t>-0.041</a:t>
            </a:r>
          </a:p>
        </p:txBody>
      </p:sp>
      <p:sp>
        <p:nvSpPr>
          <p:cNvPr id="53" name="Rectangle 52"/>
          <p:cNvSpPr/>
          <p:nvPr/>
        </p:nvSpPr>
        <p:spPr>
          <a:xfrm>
            <a:off x="1097280" y="4937760"/>
            <a:ext cx="9326880" cy="10972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280160" y="5029200"/>
            <a:ext cx="8961120" cy="914400"/>
          </a:xfrm>
          <a:prstGeom prst="rect">
            <a:avLst/>
          </a:prstGeom>
          <a:noFill/>
        </p:spPr>
        <p:txBody>
          <a:bodyPr wrap="square">
            <a:spAutoFit/>
          </a:bodyPr>
          <a:lstStyle/>
          <a:p>
            <a:pPr algn="l">
              <a:defRPr sz="1600" b="0">
                <a:solidFill>
                  <a:srgbClr val="1B2A4A"/>
                </a:solidFill>
                <a:latin typeface="Calibri"/>
              </a:defRPr>
            </a:pPr>
            <a:r>
              <a:t>XGBoost (Behavioral Only) leads at F1m = 0.570. Demographics improved RF (+0.05) but slightly decreased XGBoost (-0.04). All trained models exceed both baselines.</a:t>
            </a:r>
          </a:p>
        </p:txBody>
      </p:sp>
      <p:sp>
        <p:nvSpPr>
          <p:cNvPr id="55" name="TextBox 54"/>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7/12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Feature Importance</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What drives the predictions?</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5029200" cy="365760"/>
          </a:xfrm>
          <a:prstGeom prst="rect">
            <a:avLst/>
          </a:prstGeom>
          <a:noFill/>
        </p:spPr>
        <p:txBody>
          <a:bodyPr wrap="square">
            <a:spAutoFit/>
          </a:bodyPr>
          <a:lstStyle/>
          <a:p>
            <a:pPr algn="l">
              <a:defRPr sz="1800" b="1">
                <a:solidFill>
                  <a:srgbClr val="2E86C1"/>
                </a:solidFill>
                <a:latin typeface="Calibri"/>
              </a:defRPr>
            </a:pPr>
            <a:r>
              <a:t>Top Behavioral Features</a:t>
            </a:r>
          </a:p>
        </p:txBody>
      </p:sp>
      <p:sp>
        <p:nvSpPr>
          <p:cNvPr id="6" name="TextBox 5"/>
          <p:cNvSpPr txBox="1"/>
          <p:nvPr/>
        </p:nvSpPr>
        <p:spPr>
          <a:xfrm>
            <a:off x="731520" y="2286000"/>
            <a:ext cx="5029200" cy="3200400"/>
          </a:xfrm>
          <a:prstGeom prst="rect">
            <a:avLst/>
          </a:prstGeom>
          <a:noFill/>
        </p:spPr>
        <p:txBody>
          <a:bodyPr wrap="square">
            <a:spAutoFit/>
          </a:bodyPr>
          <a:lstStyle/>
          <a:p>
            <a:pPr>
              <a:spcAft>
                <a:spcPts val="800"/>
              </a:spcAft>
              <a:defRPr sz="1600">
                <a:solidFill>
                  <a:srgbClr val="333333"/>
                </a:solidFill>
                <a:latin typeface="Calibri"/>
              </a:defRPr>
            </a:pPr>
            <a:r>
              <a:t>pct_depot (0.104) — deposit frequency distinguishes levels</a:t>
            </a:r>
          </a:p>
          <a:p>
            <a:pPr>
              <a:spcAft>
                <a:spcPts val="800"/>
              </a:spcAft>
              <a:defRPr sz="1600">
                <a:solidFill>
                  <a:srgbClr val="333333"/>
                </a:solidFill>
                <a:latin typeface="Calibri"/>
              </a:defRPr>
            </a:pPr>
            <a:r>
              <a:t>avg_sr_ratio (0.052) — send/receive balance</a:t>
            </a:r>
          </a:p>
          <a:p>
            <a:pPr>
              <a:spcAft>
                <a:spcPts val="800"/>
              </a:spcAft>
              <a:defRPr sz="1600">
                <a:solidFill>
                  <a:srgbClr val="333333"/>
                </a:solidFill>
                <a:latin typeface="Calibri"/>
              </a:defRPr>
            </a:pPr>
            <a:r>
              <a:t>pct_transfert (0.055) — transfer proportion</a:t>
            </a:r>
          </a:p>
          <a:p>
            <a:pPr>
              <a:spcAft>
                <a:spcPts val="800"/>
              </a:spcAft>
              <a:defRPr sz="1600">
                <a:solidFill>
                  <a:srgbClr val="333333"/>
                </a:solidFill>
                <a:latin typeface="Calibri"/>
              </a:defRPr>
            </a:pPr>
            <a:r>
              <a:t>mean_amount (0.051) — transaction size profile</a:t>
            </a:r>
          </a:p>
          <a:p>
            <a:pPr>
              <a:spcAft>
                <a:spcPts val="800"/>
              </a:spcAft>
              <a:defRPr sz="1600">
                <a:solidFill>
                  <a:srgbClr val="333333"/>
                </a:solidFill>
                <a:latin typeface="Calibri"/>
              </a:defRPr>
            </a:pPr>
            <a:r>
              <a:t>avg_hour (0.079 RF) — usage timing patterns</a:t>
            </a:r>
          </a:p>
        </p:txBody>
      </p:sp>
      <p:sp>
        <p:nvSpPr>
          <p:cNvPr id="7" name="TextBox 6"/>
          <p:cNvSpPr txBox="1"/>
          <p:nvPr/>
        </p:nvSpPr>
        <p:spPr>
          <a:xfrm>
            <a:off x="6400800" y="1828800"/>
            <a:ext cx="5029200" cy="365760"/>
          </a:xfrm>
          <a:prstGeom prst="rect">
            <a:avLst/>
          </a:prstGeom>
          <a:noFill/>
        </p:spPr>
        <p:txBody>
          <a:bodyPr wrap="square">
            <a:spAutoFit/>
          </a:bodyPr>
          <a:lstStyle/>
          <a:p>
            <a:pPr algn="l">
              <a:defRPr sz="1800" b="1">
                <a:solidFill>
                  <a:srgbClr val="E67E22"/>
                </a:solidFill>
                <a:latin typeface="Calibri"/>
              </a:defRPr>
            </a:pPr>
            <a:r>
              <a:t>Top Demographic Features</a:t>
            </a:r>
          </a:p>
        </p:txBody>
      </p:sp>
      <p:sp>
        <p:nvSpPr>
          <p:cNvPr id="8" name="TextBox 7"/>
          <p:cNvSpPr txBox="1"/>
          <p:nvPr/>
        </p:nvSpPr>
        <p:spPr>
          <a:xfrm>
            <a:off x="6400800" y="2286000"/>
            <a:ext cx="5029200" cy="3200400"/>
          </a:xfrm>
          <a:prstGeom prst="rect">
            <a:avLst/>
          </a:prstGeom>
          <a:noFill/>
        </p:spPr>
        <p:txBody>
          <a:bodyPr wrap="square">
            <a:spAutoFit/>
          </a:bodyPr>
          <a:lstStyle/>
          <a:p>
            <a:pPr>
              <a:spcAft>
                <a:spcPts val="800"/>
              </a:spcAft>
              <a:defRPr sz="1600">
                <a:solidFill>
                  <a:srgbClr val="333333"/>
                </a:solidFill>
                <a:latin typeface="Calibri"/>
              </a:defRPr>
            </a:pPr>
            <a:r>
              <a:t>prof_Unemployed (0.046) — employment status</a:t>
            </a:r>
          </a:p>
          <a:p>
            <a:pPr>
              <a:spcAft>
                <a:spcPts val="800"/>
              </a:spcAft>
              <a:defRPr sz="1600">
                <a:solidFill>
                  <a:srgbClr val="333333"/>
                </a:solidFill>
                <a:latin typeface="Calibri"/>
              </a:defRPr>
            </a:pPr>
            <a:r>
              <a:t>prof_Self-Employed (0.045) — business users</a:t>
            </a:r>
          </a:p>
          <a:p>
            <a:pPr>
              <a:spcAft>
                <a:spcPts val="800"/>
              </a:spcAft>
              <a:defRPr sz="1600">
                <a:solidFill>
                  <a:srgbClr val="333333"/>
                </a:solidFill>
                <a:latin typeface="Calibri"/>
              </a:defRPr>
            </a:pPr>
            <a:r>
              <a:t>education_ordinal (0.044) — education level</a:t>
            </a:r>
          </a:p>
          <a:p>
            <a:pPr>
              <a:spcAft>
                <a:spcPts val="800"/>
              </a:spcAft>
              <a:defRPr sz="1600">
                <a:solidFill>
                  <a:srgbClr val="333333"/>
                </a:solidFill>
                <a:latin typeface="Calibri"/>
              </a:defRPr>
            </a:pPr>
            <a:r>
              <a:t>geo_Urban (0.040) — location type</a:t>
            </a:r>
          </a:p>
          <a:p>
            <a:pPr>
              <a:spcAft>
                <a:spcPts val="800"/>
              </a:spcAft>
              <a:defRPr sz="1600">
                <a:solidFill>
                  <a:srgbClr val="333333"/>
                </a:solidFill>
                <a:latin typeface="Calibri"/>
              </a:defRPr>
            </a:pPr>
            <a:r>
              <a:t>household_size — family network size</a:t>
            </a:r>
          </a:p>
        </p:txBody>
      </p:sp>
      <p:sp>
        <p:nvSpPr>
          <p:cNvPr id="9" name="Rectangle 8"/>
          <p:cNvSpPr/>
          <p:nvPr/>
        </p:nvSpPr>
        <p:spPr>
          <a:xfrm>
            <a:off x="731520" y="5486400"/>
            <a:ext cx="10515600" cy="73152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5577840"/>
            <a:ext cx="10058400" cy="548640"/>
          </a:xfrm>
          <a:prstGeom prst="rect">
            <a:avLst/>
          </a:prstGeom>
          <a:noFill/>
        </p:spPr>
        <p:txBody>
          <a:bodyPr wrap="square">
            <a:spAutoFit/>
          </a:bodyPr>
          <a:lstStyle/>
          <a:p>
            <a:pPr algn="l">
              <a:defRPr sz="1500" b="0">
                <a:solidFill>
                  <a:srgbClr val="1B2A4A"/>
                </a:solidFill>
                <a:latin typeface="Calibri"/>
              </a:defRPr>
            </a:pPr>
            <a:r>
              <a:t>Behavioral features dominate the top ranks. Demographic features provide secondary signal.</a:t>
            </a:r>
          </a:p>
        </p:txBody>
      </p:sp>
      <p:sp>
        <p:nvSpPr>
          <p:cNvPr id="11" name="TextBox 10"/>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8/12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731520"/>
          </a:xfrm>
          <a:prstGeom prst="rect">
            <a:avLst/>
          </a:prstGeom>
          <a:noFill/>
        </p:spPr>
        <p:txBody>
          <a:bodyPr wrap="square">
            <a:spAutoFit/>
          </a:bodyPr>
          <a:lstStyle/>
          <a:p>
            <a:pPr algn="l">
              <a:defRPr sz="3200" b="1">
                <a:solidFill>
                  <a:srgbClr val="FFFFFF"/>
                </a:solidFill>
                <a:latin typeface="Calibri"/>
              </a:defRPr>
            </a:pPr>
            <a:r>
              <a:t>Key Insights</a:t>
            </a:r>
          </a:p>
        </p:txBody>
      </p:sp>
      <p:sp>
        <p:nvSpPr>
          <p:cNvPr id="3" name="Rectangle 2"/>
          <p:cNvSpPr/>
          <p:nvPr/>
        </p:nvSpPr>
        <p:spPr>
          <a:xfrm>
            <a:off x="731520" y="11887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 y="1645920"/>
            <a:ext cx="3291840" cy="41148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783080"/>
            <a:ext cx="2926080" cy="365760"/>
          </a:xfrm>
          <a:prstGeom prst="rect">
            <a:avLst/>
          </a:prstGeom>
          <a:noFill/>
        </p:spPr>
        <p:txBody>
          <a:bodyPr wrap="square">
            <a:spAutoFit/>
          </a:bodyPr>
          <a:lstStyle/>
          <a:p>
            <a:pPr algn="l">
              <a:defRPr sz="2000" b="1">
                <a:solidFill>
                  <a:srgbClr val="FFFFFF"/>
                </a:solidFill>
                <a:latin typeface="Calibri"/>
              </a:defRPr>
            </a:pPr>
            <a:r>
              <a:t>HIGH Activity</a:t>
            </a:r>
          </a:p>
        </p:txBody>
      </p:sp>
      <p:sp>
        <p:nvSpPr>
          <p:cNvPr id="6" name="TextBox 5"/>
          <p:cNvSpPr txBox="1"/>
          <p:nvPr/>
        </p:nvSpPr>
        <p:spPr>
          <a:xfrm>
            <a:off x="914400" y="2148840"/>
            <a:ext cx="2926080" cy="320040"/>
          </a:xfrm>
          <a:prstGeom prst="rect">
            <a:avLst/>
          </a:prstGeom>
          <a:noFill/>
        </p:spPr>
        <p:txBody>
          <a:bodyPr wrap="square">
            <a:spAutoFit/>
          </a:bodyPr>
          <a:lstStyle/>
          <a:p>
            <a:pPr algn="l">
              <a:defRPr sz="1300" b="0">
                <a:solidFill>
                  <a:srgbClr val="FFFFFF"/>
                </a:solidFill>
                <a:latin typeface="Calibri"/>
              </a:defRPr>
            </a:pPr>
            <a:r>
              <a:t>&gt; 204 transactions</a:t>
            </a:r>
          </a:p>
        </p:txBody>
      </p:sp>
      <p:sp>
        <p:nvSpPr>
          <p:cNvPr id="7" name="TextBox 6"/>
          <p:cNvSpPr txBox="1"/>
          <p:nvPr/>
        </p:nvSpPr>
        <p:spPr>
          <a:xfrm>
            <a:off x="914400" y="2606040"/>
            <a:ext cx="2926080" cy="2743200"/>
          </a:xfrm>
          <a:prstGeom prst="rect">
            <a:avLst/>
          </a:prstGeom>
          <a:noFill/>
        </p:spPr>
        <p:txBody>
          <a:bodyPr wrap="square">
            <a:spAutoFit/>
          </a:bodyPr>
          <a:lstStyle/>
          <a:p>
            <a:pPr algn="l">
              <a:defRPr sz="1400" b="0">
                <a:solidFill>
                  <a:srgbClr val="FFFFFF"/>
                </a:solidFill>
                <a:latin typeface="Calibri"/>
              </a:defRPr>
            </a:pPr>
            <a:r>
              <a:t>Daily power users</a:t>
            </a:r>
            <a:br/>
            <a:r>
              <a:t>Small frequent transactions</a:t>
            </a:r>
            <a:br/>
            <a:r>
              <a:t>High send/receive ratio</a:t>
            </a:r>
            <a:br/>
            <a:r>
              <a:t>Airtime + transfers</a:t>
            </a:r>
            <a:br/>
            <a:r>
              <a:t>Larger households</a:t>
            </a:r>
          </a:p>
        </p:txBody>
      </p:sp>
      <p:sp>
        <p:nvSpPr>
          <p:cNvPr id="8" name="Rectangle 7"/>
          <p:cNvSpPr/>
          <p:nvPr/>
        </p:nvSpPr>
        <p:spPr>
          <a:xfrm>
            <a:off x="4389120" y="1645920"/>
            <a:ext cx="3291840" cy="41148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783080"/>
            <a:ext cx="2926080" cy="365760"/>
          </a:xfrm>
          <a:prstGeom prst="rect">
            <a:avLst/>
          </a:prstGeom>
          <a:noFill/>
        </p:spPr>
        <p:txBody>
          <a:bodyPr wrap="square">
            <a:spAutoFit/>
          </a:bodyPr>
          <a:lstStyle/>
          <a:p>
            <a:pPr algn="l">
              <a:defRPr sz="2000" b="1">
                <a:solidFill>
                  <a:srgbClr val="FFFFFF"/>
                </a:solidFill>
                <a:latin typeface="Calibri"/>
              </a:defRPr>
            </a:pPr>
            <a:r>
              <a:t>MEDIUM Activity</a:t>
            </a:r>
          </a:p>
        </p:txBody>
      </p:sp>
      <p:sp>
        <p:nvSpPr>
          <p:cNvPr id="10" name="TextBox 9"/>
          <p:cNvSpPr txBox="1"/>
          <p:nvPr/>
        </p:nvSpPr>
        <p:spPr>
          <a:xfrm>
            <a:off x="4572000" y="2148840"/>
            <a:ext cx="2926080" cy="320040"/>
          </a:xfrm>
          <a:prstGeom prst="rect">
            <a:avLst/>
          </a:prstGeom>
          <a:noFill/>
        </p:spPr>
        <p:txBody>
          <a:bodyPr wrap="square">
            <a:spAutoFit/>
          </a:bodyPr>
          <a:lstStyle/>
          <a:p>
            <a:pPr algn="l">
              <a:defRPr sz="1300" b="0">
                <a:solidFill>
                  <a:srgbClr val="FFFFFF"/>
                </a:solidFill>
                <a:latin typeface="Calibri"/>
              </a:defRPr>
            </a:pPr>
            <a:r>
              <a:t>56–204 transactions</a:t>
            </a:r>
          </a:p>
        </p:txBody>
      </p:sp>
      <p:sp>
        <p:nvSpPr>
          <p:cNvPr id="11" name="TextBox 10"/>
          <p:cNvSpPr txBox="1"/>
          <p:nvPr/>
        </p:nvSpPr>
        <p:spPr>
          <a:xfrm>
            <a:off x="4572000" y="2606040"/>
            <a:ext cx="2926080" cy="2743200"/>
          </a:xfrm>
          <a:prstGeom prst="rect">
            <a:avLst/>
          </a:prstGeom>
          <a:noFill/>
        </p:spPr>
        <p:txBody>
          <a:bodyPr wrap="square">
            <a:spAutoFit/>
          </a:bodyPr>
          <a:lstStyle/>
          <a:p>
            <a:pPr algn="l">
              <a:defRPr sz="1400" b="0">
                <a:solidFill>
                  <a:srgbClr val="FFFFFF"/>
                </a:solidFill>
                <a:latin typeface="Calibri"/>
              </a:defRPr>
            </a:pPr>
            <a:r>
              <a:t>Regular but not daily</a:t>
            </a:r>
            <a:br/>
            <a:r>
              <a:t>Moderate amounts</a:t>
            </a:r>
            <a:br/>
            <a:r>
              <a:t>Mixed transaction types</a:t>
            </a:r>
            <a:br/>
            <a:r>
              <a:t>Transitional group</a:t>
            </a:r>
            <a:br/>
            <a:r>
              <a:t>Hardest to classify (F1=0.40)</a:t>
            </a:r>
          </a:p>
        </p:txBody>
      </p:sp>
      <p:sp>
        <p:nvSpPr>
          <p:cNvPr id="12" name="Rectangle 11"/>
          <p:cNvSpPr/>
          <p:nvPr/>
        </p:nvSpPr>
        <p:spPr>
          <a:xfrm>
            <a:off x="8046720" y="1645920"/>
            <a:ext cx="3291840" cy="41148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0" y="1783080"/>
            <a:ext cx="2926080" cy="365760"/>
          </a:xfrm>
          <a:prstGeom prst="rect">
            <a:avLst/>
          </a:prstGeom>
          <a:noFill/>
        </p:spPr>
        <p:txBody>
          <a:bodyPr wrap="square">
            <a:spAutoFit/>
          </a:bodyPr>
          <a:lstStyle/>
          <a:p>
            <a:pPr algn="l">
              <a:defRPr sz="2000" b="1">
                <a:solidFill>
                  <a:srgbClr val="FFFFFF"/>
                </a:solidFill>
                <a:latin typeface="Calibri"/>
              </a:defRPr>
            </a:pPr>
            <a:r>
              <a:t>LOW Activity</a:t>
            </a:r>
          </a:p>
        </p:txBody>
      </p:sp>
      <p:sp>
        <p:nvSpPr>
          <p:cNvPr id="14" name="TextBox 13"/>
          <p:cNvSpPr txBox="1"/>
          <p:nvPr/>
        </p:nvSpPr>
        <p:spPr>
          <a:xfrm>
            <a:off x="8229600" y="2148840"/>
            <a:ext cx="2926080" cy="320040"/>
          </a:xfrm>
          <a:prstGeom prst="rect">
            <a:avLst/>
          </a:prstGeom>
          <a:noFill/>
        </p:spPr>
        <p:txBody>
          <a:bodyPr wrap="square">
            <a:spAutoFit/>
          </a:bodyPr>
          <a:lstStyle/>
          <a:p>
            <a:pPr algn="l">
              <a:defRPr sz="1300" b="0">
                <a:solidFill>
                  <a:srgbClr val="FFFFFF"/>
                </a:solidFill>
                <a:latin typeface="Calibri"/>
              </a:defRPr>
            </a:pPr>
            <a:r>
              <a:t>≤ 55 transactions</a:t>
            </a:r>
          </a:p>
        </p:txBody>
      </p:sp>
      <p:sp>
        <p:nvSpPr>
          <p:cNvPr id="15" name="TextBox 14"/>
          <p:cNvSpPr txBox="1"/>
          <p:nvPr/>
        </p:nvSpPr>
        <p:spPr>
          <a:xfrm>
            <a:off x="8229600" y="2606040"/>
            <a:ext cx="2926080" cy="2743200"/>
          </a:xfrm>
          <a:prstGeom prst="rect">
            <a:avLst/>
          </a:prstGeom>
          <a:noFill/>
        </p:spPr>
        <p:txBody>
          <a:bodyPr wrap="square">
            <a:spAutoFit/>
          </a:bodyPr>
          <a:lstStyle/>
          <a:p>
            <a:pPr algn="l">
              <a:defRPr sz="1400" b="0">
                <a:solidFill>
                  <a:srgbClr val="FFFFFF"/>
                </a:solidFill>
                <a:latin typeface="Calibri"/>
              </a:defRPr>
            </a:pPr>
            <a:r>
              <a:t>Infrequent, purpose-driven</a:t>
            </a:r>
            <a:br/>
            <a:r>
              <a:t>Fewer but larger transactions</a:t>
            </a:r>
            <a:br/>
            <a:r>
              <a:t>High balance, lower ratio</a:t>
            </a:r>
            <a:br/>
            <a:r>
              <a:t>Higher education</a:t>
            </a:r>
            <a:br/>
            <a:r>
              <a:t>Specific-use pattern</a:t>
            </a:r>
          </a:p>
        </p:txBody>
      </p:sp>
      <p:sp>
        <p:nvSpPr>
          <p:cNvPr id="16" name="TextBox 15"/>
          <p:cNvSpPr txBox="1"/>
          <p:nvPr/>
        </p:nvSpPr>
        <p:spPr>
          <a:xfrm>
            <a:off x="731520" y="6035040"/>
            <a:ext cx="10515600" cy="457200"/>
          </a:xfrm>
          <a:prstGeom prst="rect">
            <a:avLst/>
          </a:prstGeom>
          <a:noFill/>
        </p:spPr>
        <p:txBody>
          <a:bodyPr wrap="square">
            <a:spAutoFit/>
          </a:bodyPr>
          <a:lstStyle/>
          <a:p>
            <a:pPr algn="ctr">
              <a:defRPr sz="1800" b="1">
                <a:solidFill>
                  <a:srgbClr val="D6EAF8"/>
                </a:solidFill>
                <a:latin typeface="Calibri"/>
              </a:defRPr>
            </a:pPr>
            <a:r>
              <a:t>How a user transacts is more predictive than who they are.</a:t>
            </a:r>
          </a:p>
        </p:txBody>
      </p:sp>
      <p:sp>
        <p:nvSpPr>
          <p:cNvPr id="17" name="TextBox 16"/>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9/12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Business Recommendations</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From classification to action</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828800"/>
            <a:ext cx="5303520" cy="19202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920240"/>
            <a:ext cx="4937760" cy="365760"/>
          </a:xfrm>
          <a:prstGeom prst="rect">
            <a:avLst/>
          </a:prstGeom>
          <a:noFill/>
        </p:spPr>
        <p:txBody>
          <a:bodyPr wrap="square">
            <a:spAutoFit/>
          </a:bodyPr>
          <a:lstStyle/>
          <a:p>
            <a:pPr algn="l">
              <a:defRPr sz="1800" b="1">
                <a:solidFill>
                  <a:srgbClr val="FFFFFF"/>
                </a:solidFill>
                <a:latin typeface="Calibri"/>
              </a:defRPr>
            </a:pPr>
            <a:r>
              <a:t>Customer Segmentation</a:t>
            </a:r>
          </a:p>
        </p:txBody>
      </p:sp>
      <p:sp>
        <p:nvSpPr>
          <p:cNvPr id="7" name="TextBox 6"/>
          <p:cNvSpPr txBox="1"/>
          <p:nvPr/>
        </p:nvSpPr>
        <p:spPr>
          <a:xfrm>
            <a:off x="914400" y="2331720"/>
            <a:ext cx="4937760" cy="1280160"/>
          </a:xfrm>
          <a:prstGeom prst="rect">
            <a:avLst/>
          </a:prstGeom>
          <a:noFill/>
        </p:spPr>
        <p:txBody>
          <a:bodyPr wrap="square">
            <a:spAutoFit/>
          </a:bodyPr>
          <a:lstStyle/>
          <a:p>
            <a:pPr algn="l">
              <a:defRPr sz="1400" b="0">
                <a:solidFill>
                  <a:srgbClr val="FFFFFF"/>
                </a:solidFill>
                <a:latin typeface="Calibri"/>
              </a:defRPr>
            </a:pPr>
            <a:r>
              <a:t>Classify new users within first</a:t>
            </a:r>
            <a:br/>
            <a:r>
              <a:t>month. Tailor products per tier:</a:t>
            </a:r>
            <a:br/>
            <a:r>
              <a:t>premium for High, re-engagement</a:t>
            </a:r>
            <a:br/>
            <a:r>
              <a:t>for Low.</a:t>
            </a:r>
          </a:p>
        </p:txBody>
      </p:sp>
      <p:sp>
        <p:nvSpPr>
          <p:cNvPr id="8" name="Rectangle 7"/>
          <p:cNvSpPr/>
          <p:nvPr/>
        </p:nvSpPr>
        <p:spPr>
          <a:xfrm>
            <a:off x="6400800" y="1828800"/>
            <a:ext cx="5303520" cy="1920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1920240"/>
            <a:ext cx="4937760" cy="365760"/>
          </a:xfrm>
          <a:prstGeom prst="rect">
            <a:avLst/>
          </a:prstGeom>
          <a:noFill/>
        </p:spPr>
        <p:txBody>
          <a:bodyPr wrap="square">
            <a:spAutoFit/>
          </a:bodyPr>
          <a:lstStyle/>
          <a:p>
            <a:pPr algn="l">
              <a:defRPr sz="1800" b="1">
                <a:solidFill>
                  <a:srgbClr val="FFFFFF"/>
                </a:solidFill>
                <a:latin typeface="Calibri"/>
              </a:defRPr>
            </a:pPr>
            <a:r>
              <a:t>Credit Risk Scoring</a:t>
            </a:r>
          </a:p>
        </p:txBody>
      </p:sp>
      <p:sp>
        <p:nvSpPr>
          <p:cNvPr id="10" name="TextBox 9"/>
          <p:cNvSpPr txBox="1"/>
          <p:nvPr/>
        </p:nvSpPr>
        <p:spPr>
          <a:xfrm>
            <a:off x="6583680" y="2331720"/>
            <a:ext cx="4937760" cy="1280160"/>
          </a:xfrm>
          <a:prstGeom prst="rect">
            <a:avLst/>
          </a:prstGeom>
          <a:noFill/>
        </p:spPr>
        <p:txBody>
          <a:bodyPr wrap="square">
            <a:spAutoFit/>
          </a:bodyPr>
          <a:lstStyle/>
          <a:p>
            <a:pPr algn="l">
              <a:defRPr sz="1400" b="0">
                <a:solidFill>
                  <a:srgbClr val="FFFFFF"/>
                </a:solidFill>
                <a:latin typeface="Calibri"/>
              </a:defRPr>
            </a:pPr>
            <a:r>
              <a:t>High-activity users show consistent</a:t>
            </a:r>
            <a:br/>
            <a:r>
              <a:t>engagement — positive signal for</a:t>
            </a:r>
            <a:br/>
            <a:r>
              <a:t>micro-lending. Behavioral features</a:t>
            </a:r>
            <a:br/>
            <a:r>
              <a:t>complement traditional scores.</a:t>
            </a:r>
          </a:p>
        </p:txBody>
      </p:sp>
      <p:sp>
        <p:nvSpPr>
          <p:cNvPr id="11" name="Rectangle 10"/>
          <p:cNvSpPr/>
          <p:nvPr/>
        </p:nvSpPr>
        <p:spPr>
          <a:xfrm>
            <a:off x="731520" y="4114800"/>
            <a:ext cx="5303520" cy="19202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4206240"/>
            <a:ext cx="4937760" cy="365760"/>
          </a:xfrm>
          <a:prstGeom prst="rect">
            <a:avLst/>
          </a:prstGeom>
          <a:noFill/>
        </p:spPr>
        <p:txBody>
          <a:bodyPr wrap="square">
            <a:spAutoFit/>
          </a:bodyPr>
          <a:lstStyle/>
          <a:p>
            <a:pPr algn="l">
              <a:defRPr sz="1800" b="1">
                <a:solidFill>
                  <a:srgbClr val="FFFFFF"/>
                </a:solidFill>
                <a:latin typeface="Calibri"/>
              </a:defRPr>
            </a:pPr>
            <a:r>
              <a:t>Targeted Marketing</a:t>
            </a:r>
          </a:p>
        </p:txBody>
      </p:sp>
      <p:sp>
        <p:nvSpPr>
          <p:cNvPr id="13" name="TextBox 12"/>
          <p:cNvSpPr txBox="1"/>
          <p:nvPr/>
        </p:nvSpPr>
        <p:spPr>
          <a:xfrm>
            <a:off x="914400" y="4617720"/>
            <a:ext cx="4937760" cy="1280160"/>
          </a:xfrm>
          <a:prstGeom prst="rect">
            <a:avLst/>
          </a:prstGeom>
          <a:noFill/>
        </p:spPr>
        <p:txBody>
          <a:bodyPr wrap="square">
            <a:spAutoFit/>
          </a:bodyPr>
          <a:lstStyle/>
          <a:p>
            <a:pPr algn="l">
              <a:defRPr sz="1400" b="0">
                <a:solidFill>
                  <a:srgbClr val="FFFFFF"/>
                </a:solidFill>
                <a:latin typeface="Calibri"/>
              </a:defRPr>
            </a:pPr>
            <a:r>
              <a:t>Urban self-employed High users:</a:t>
            </a:r>
            <a:br/>
            <a:r>
              <a:t>business accounts. Students:</a:t>
            </a:r>
            <a:br/>
            <a:r>
              <a:t>airtime bundles. Educated Low:</a:t>
            </a:r>
            <a:br/>
            <a:r>
              <a:t>savings products.</a:t>
            </a:r>
          </a:p>
        </p:txBody>
      </p:sp>
      <p:sp>
        <p:nvSpPr>
          <p:cNvPr id="14" name="Rectangle 13"/>
          <p:cNvSpPr/>
          <p:nvPr/>
        </p:nvSpPr>
        <p:spPr>
          <a:xfrm>
            <a:off x="6400800" y="4114800"/>
            <a:ext cx="5303520" cy="1920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83680" y="4206240"/>
            <a:ext cx="4937760" cy="365760"/>
          </a:xfrm>
          <a:prstGeom prst="rect">
            <a:avLst/>
          </a:prstGeom>
          <a:noFill/>
        </p:spPr>
        <p:txBody>
          <a:bodyPr wrap="square">
            <a:spAutoFit/>
          </a:bodyPr>
          <a:lstStyle/>
          <a:p>
            <a:pPr algn="l">
              <a:defRPr sz="1800" b="1">
                <a:solidFill>
                  <a:srgbClr val="FFFFFF"/>
                </a:solidFill>
                <a:latin typeface="Calibri"/>
              </a:defRPr>
            </a:pPr>
            <a:r>
              <a:t>Churn Detection</a:t>
            </a:r>
          </a:p>
        </p:txBody>
      </p:sp>
      <p:sp>
        <p:nvSpPr>
          <p:cNvPr id="16" name="TextBox 15"/>
          <p:cNvSpPr txBox="1"/>
          <p:nvPr/>
        </p:nvSpPr>
        <p:spPr>
          <a:xfrm>
            <a:off x="6583680" y="4617720"/>
            <a:ext cx="4937760" cy="1280160"/>
          </a:xfrm>
          <a:prstGeom prst="rect">
            <a:avLst/>
          </a:prstGeom>
          <a:noFill/>
        </p:spPr>
        <p:txBody>
          <a:bodyPr wrap="square">
            <a:spAutoFit/>
          </a:bodyPr>
          <a:lstStyle/>
          <a:p>
            <a:pPr algn="l">
              <a:defRPr sz="1400" b="0">
                <a:solidFill>
                  <a:srgbClr val="FFFFFF"/>
                </a:solidFill>
                <a:latin typeface="Calibri"/>
              </a:defRPr>
            </a:pPr>
            <a:r>
              <a:t>Monitor activity class transitions.</a:t>
            </a:r>
            <a:br/>
            <a:r>
              <a:t>Declining velocity signals churn.</a:t>
            </a:r>
            <a:br/>
            <a:r>
              <a:t>Misclassified users may indicate</a:t>
            </a:r>
            <a:br/>
            <a:r>
              <a:t>anomalous behavior.</a:t>
            </a:r>
          </a:p>
        </p:txBody>
      </p:sp>
      <p:sp>
        <p:nvSpPr>
          <p:cNvPr id="17" name="TextBox 16"/>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10/12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914400"/>
          </a:xfrm>
          <a:prstGeom prst="rect">
            <a:avLst/>
          </a:prstGeom>
          <a:noFill/>
        </p:spPr>
        <p:txBody>
          <a:bodyPr wrap="square">
            <a:spAutoFit/>
          </a:bodyPr>
          <a:lstStyle/>
          <a:p>
            <a:pPr algn="l">
              <a:defRPr sz="3200" b="1">
                <a:solidFill>
                  <a:srgbClr val="1B2A4A"/>
                </a:solidFill>
                <a:latin typeface="Calibri"/>
              </a:defRPr>
            </a:pPr>
            <a:r>
              <a:t>Limitations</a:t>
            </a:r>
          </a:p>
        </p:txBody>
      </p:sp>
      <p:sp>
        <p:nvSpPr>
          <p:cNvPr id="3" name="TextBox 2"/>
          <p:cNvSpPr txBox="1"/>
          <p:nvPr/>
        </p:nvSpPr>
        <p:spPr>
          <a:xfrm>
            <a:off x="731520" y="1051560"/>
            <a:ext cx="10515600" cy="457200"/>
          </a:xfrm>
          <a:prstGeom prst="rect">
            <a:avLst/>
          </a:prstGeom>
          <a:noFill/>
        </p:spPr>
        <p:txBody>
          <a:bodyPr wrap="square">
            <a:spAutoFit/>
          </a:bodyPr>
          <a:lstStyle/>
          <a:p>
            <a:pPr algn="l">
              <a:defRPr sz="1600" b="0">
                <a:solidFill>
                  <a:srgbClr val="666666"/>
                </a:solidFill>
                <a:latin typeface="Calibri"/>
              </a:defRPr>
            </a:pPr>
            <a:r>
              <a:t>What constrains these results?</a:t>
            </a:r>
          </a:p>
        </p:txBody>
      </p:sp>
      <p:sp>
        <p:nvSpPr>
          <p:cNvPr id="4" name="Rectangle 3"/>
          <p:cNvSpPr/>
          <p:nvPr/>
        </p:nvSpPr>
        <p:spPr>
          <a:xfrm>
            <a:off x="731520" y="14173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828800"/>
            <a:ext cx="10515600" cy="1887696"/>
          </a:xfrm>
          <a:prstGeom prst="rect">
            <a:avLst/>
          </a:prstGeom>
          <a:noFill/>
        </p:spPr>
        <p:txBody>
          <a:bodyPr wrap="square">
            <a:spAutoFit/>
          </a:bodyPr>
          <a:lstStyle/>
          <a:p>
            <a:pPr>
              <a:spcAft>
                <a:spcPts val="800"/>
              </a:spcAft>
              <a:defRPr sz="1800">
                <a:solidFill>
                  <a:srgbClr val="333333"/>
                </a:solidFill>
                <a:latin typeface="Calibri"/>
              </a:defRPr>
            </a:pPr>
            <a:r>
              <a:rPr dirty="0"/>
              <a:t>Small dataset: only 69 users — models have limited learning capacity</a:t>
            </a:r>
          </a:p>
          <a:p>
            <a:pPr>
              <a:spcAft>
                <a:spcPts val="800"/>
              </a:spcAft>
              <a:defRPr sz="1800">
                <a:solidFill>
                  <a:srgbClr val="333333"/>
                </a:solidFill>
                <a:latin typeface="Calibri"/>
              </a:defRPr>
            </a:pPr>
            <a:r>
              <a:rPr dirty="0"/>
              <a:t>Feature dimensionality: 29 features on 69 users pushes model capacity</a:t>
            </a:r>
          </a:p>
          <a:p>
            <a:pPr>
              <a:spcAft>
                <a:spcPts val="800"/>
              </a:spcAft>
              <a:defRPr sz="1800">
                <a:solidFill>
                  <a:srgbClr val="333333"/>
                </a:solidFill>
                <a:latin typeface="Calibri"/>
              </a:defRPr>
            </a:pPr>
            <a:r>
              <a:rPr dirty="0"/>
              <a:t>No temporal split: random split doesn’t simulate real deployment</a:t>
            </a:r>
          </a:p>
          <a:p>
            <a:pPr>
              <a:spcAft>
                <a:spcPts val="800"/>
              </a:spcAft>
              <a:defRPr sz="1800">
                <a:solidFill>
                  <a:srgbClr val="333333"/>
                </a:solidFill>
                <a:latin typeface="Calibri"/>
              </a:defRPr>
            </a:pPr>
            <a:r>
              <a:rPr dirty="0"/>
              <a:t>Leakage tradeoff: excluding frequency features limits maximum performance</a:t>
            </a:r>
          </a:p>
          <a:p>
            <a:pPr>
              <a:spcAft>
                <a:spcPts val="800"/>
              </a:spcAft>
              <a:defRPr sz="1800">
                <a:solidFill>
                  <a:srgbClr val="333333"/>
                </a:solidFill>
                <a:latin typeface="Calibri"/>
              </a:defRPr>
            </a:pPr>
            <a:r>
              <a:rPr dirty="0"/>
              <a:t>Medium class overlap: boundary users are inherently hard to classify</a:t>
            </a:r>
          </a:p>
        </p:txBody>
      </p:sp>
      <p:sp>
        <p:nvSpPr>
          <p:cNvPr id="6" name="Rectangle 5"/>
          <p:cNvSpPr/>
          <p:nvPr/>
        </p:nvSpPr>
        <p:spPr>
          <a:xfrm>
            <a:off x="731520" y="5303520"/>
            <a:ext cx="10515600" cy="91440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5394960"/>
            <a:ext cx="10058400" cy="731520"/>
          </a:xfrm>
          <a:prstGeom prst="rect">
            <a:avLst/>
          </a:prstGeom>
          <a:noFill/>
        </p:spPr>
        <p:txBody>
          <a:bodyPr wrap="square">
            <a:spAutoFit/>
          </a:bodyPr>
          <a:lstStyle/>
          <a:p>
            <a:pPr algn="l">
              <a:defRPr sz="1500" b="0">
                <a:solidFill>
                  <a:srgbClr val="1B2A4A"/>
                </a:solidFill>
                <a:latin typeface="Calibri"/>
              </a:defRPr>
            </a:pPr>
            <a:r>
              <a:t>Primary recommendation: Expand to 200+ users with real demographics to stabilize model performance and enable genuine demographic analysis.</a:t>
            </a:r>
          </a:p>
        </p:txBody>
      </p:sp>
      <p:sp>
        <p:nvSpPr>
          <p:cNvPr id="8" name="TextBox 7"/>
          <p:cNvSpPr txBox="1"/>
          <p:nvPr/>
        </p:nvSpPr>
        <p:spPr>
          <a:xfrm>
            <a:off x="10972800" y="6400800"/>
            <a:ext cx="1097280" cy="365760"/>
          </a:xfrm>
          <a:prstGeom prst="rect">
            <a:avLst/>
          </a:prstGeom>
          <a:noFill/>
        </p:spPr>
        <p:txBody>
          <a:bodyPr wrap="square">
            <a:spAutoFit/>
          </a:bodyPr>
          <a:lstStyle/>
          <a:p>
            <a:pPr algn="r">
              <a:defRPr sz="1100" b="0">
                <a:solidFill>
                  <a:srgbClr val="666666"/>
                </a:solidFill>
                <a:latin typeface="Calibri"/>
              </a:defRPr>
            </a:pPr>
            <a:r>
              <a:t>11/12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515600" cy="731520"/>
          </a:xfrm>
          <a:prstGeom prst="rect">
            <a:avLst/>
          </a:prstGeom>
          <a:noFill/>
        </p:spPr>
        <p:txBody>
          <a:bodyPr wrap="square">
            <a:spAutoFit/>
          </a:bodyPr>
          <a:lstStyle/>
          <a:p>
            <a:pPr algn="l">
              <a:defRPr sz="3200" b="1">
                <a:solidFill>
                  <a:srgbClr val="FFFFFF"/>
                </a:solidFill>
                <a:latin typeface="Calibri"/>
              </a:defRPr>
            </a:pPr>
            <a:r>
              <a:t>Conclusion</a:t>
            </a:r>
          </a:p>
        </p:txBody>
      </p:sp>
      <p:sp>
        <p:nvSpPr>
          <p:cNvPr id="3" name="Rectangle 2"/>
          <p:cNvSpPr/>
          <p:nvPr/>
        </p:nvSpPr>
        <p:spPr>
          <a:xfrm>
            <a:off x="731520" y="1188720"/>
            <a:ext cx="1371600" cy="548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1554480"/>
            <a:ext cx="10515600" cy="3200400"/>
          </a:xfrm>
          <a:prstGeom prst="rect">
            <a:avLst/>
          </a:prstGeom>
          <a:noFill/>
        </p:spPr>
        <p:txBody>
          <a:bodyPr wrap="square">
            <a:spAutoFit/>
          </a:bodyPr>
          <a:lstStyle/>
          <a:p>
            <a:pPr>
              <a:spcAft>
                <a:spcPts val="800"/>
              </a:spcAft>
              <a:defRPr sz="2000">
                <a:solidFill>
                  <a:srgbClr val="FFFFFF"/>
                </a:solidFill>
                <a:latin typeface="Calibri"/>
              </a:defRPr>
            </a:pPr>
            <a:r>
              <a:t>Behavioral features carry genuine predictive signal for user classification</a:t>
            </a:r>
          </a:p>
          <a:p>
            <a:pPr>
              <a:spcAft>
                <a:spcPts val="800"/>
              </a:spcAft>
              <a:defRPr sz="2000">
                <a:solidFill>
                  <a:srgbClr val="FFFFFF"/>
                </a:solidFill>
                <a:latin typeface="Calibri"/>
              </a:defRPr>
            </a:pPr>
            <a:r>
              <a:t>XGBoost: Test F1 (macro) = 0.570, well above baselines (0.17 / 0.32)</a:t>
            </a:r>
          </a:p>
          <a:p>
            <a:pPr>
              <a:spcAft>
                <a:spcPts val="800"/>
              </a:spcAft>
              <a:defRPr sz="2000">
                <a:solidFill>
                  <a:srgbClr val="FFFFFF"/>
                </a:solidFill>
                <a:latin typeface="Calibri"/>
              </a:defRPr>
            </a:pPr>
            <a:r>
              <a:t>Demographics: mixed impact (+0.05 RF, -0.04 XGBoost) due to 85% simulated data</a:t>
            </a:r>
          </a:p>
          <a:p>
            <a:pPr>
              <a:spcAft>
                <a:spcPts val="800"/>
              </a:spcAft>
              <a:defRPr sz="2000">
                <a:solidFill>
                  <a:srgbClr val="FFFFFF"/>
                </a:solidFill>
                <a:latin typeface="Calibri"/>
              </a:defRPr>
            </a:pPr>
            <a:r>
              <a:t>Top predictors: deposit %, send/receive ratio, transfer %, transaction amount</a:t>
            </a:r>
          </a:p>
          <a:p>
            <a:pPr>
              <a:spcAft>
                <a:spcPts val="800"/>
              </a:spcAft>
              <a:defRPr sz="2000">
                <a:solidFill>
                  <a:srgbClr val="FFFFFF"/>
                </a:solidFill>
                <a:latin typeface="Calibri"/>
              </a:defRPr>
            </a:pPr>
            <a:r>
              <a:t>Three distinct user profiles identified: power users, regular users, occasional users</a:t>
            </a:r>
          </a:p>
        </p:txBody>
      </p:sp>
      <p:sp>
        <p:nvSpPr>
          <p:cNvPr id="5" name="Rectangle 4"/>
          <p:cNvSpPr/>
          <p:nvPr/>
        </p:nvSpPr>
        <p:spPr>
          <a:xfrm>
            <a:off x="731520" y="4754880"/>
            <a:ext cx="10515600" cy="13716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4846320"/>
            <a:ext cx="10058400" cy="365760"/>
          </a:xfrm>
          <a:prstGeom prst="rect">
            <a:avLst/>
          </a:prstGeom>
          <a:noFill/>
        </p:spPr>
        <p:txBody>
          <a:bodyPr wrap="square">
            <a:spAutoFit/>
          </a:bodyPr>
          <a:lstStyle/>
          <a:p>
            <a:pPr algn="l">
              <a:defRPr sz="1800" b="1">
                <a:solidFill>
                  <a:srgbClr val="FFFFFF"/>
                </a:solidFill>
                <a:latin typeface="Calibri"/>
              </a:defRPr>
            </a:pPr>
            <a:r>
              <a:t>Next Steps</a:t>
            </a:r>
          </a:p>
        </p:txBody>
      </p:sp>
      <p:sp>
        <p:nvSpPr>
          <p:cNvPr id="7" name="TextBox 6"/>
          <p:cNvSpPr txBox="1"/>
          <p:nvPr/>
        </p:nvSpPr>
        <p:spPr>
          <a:xfrm>
            <a:off x="914400" y="5212080"/>
            <a:ext cx="10058400" cy="731520"/>
          </a:xfrm>
          <a:prstGeom prst="rect">
            <a:avLst/>
          </a:prstGeom>
          <a:noFill/>
        </p:spPr>
        <p:txBody>
          <a:bodyPr wrap="square">
            <a:spAutoFit/>
          </a:bodyPr>
          <a:lstStyle/>
          <a:p>
            <a:pPr algn="l">
              <a:defRPr sz="1400" b="0">
                <a:solidFill>
                  <a:srgbClr val="FFFFFF"/>
                </a:solidFill>
                <a:latin typeface="Calibri"/>
              </a:defRPr>
            </a:pPr>
            <a:r>
              <a:t>1. Collect real demographics for all users  |  2. Expand to 200+ users  |  3. Implement temporal split  |  4. Deploy batch scoring pipeline</a:t>
            </a:r>
          </a:p>
        </p:txBody>
      </p:sp>
      <p:sp>
        <p:nvSpPr>
          <p:cNvPr id="8" name="Rectangle 7"/>
          <p:cNvSpPr/>
          <p:nvPr/>
        </p:nvSpPr>
        <p:spPr>
          <a:xfrm>
            <a:off x="0" y="6720840"/>
            <a:ext cx="12191695" cy="13716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1681</Words>
  <Application>Microsoft Office PowerPoint</Application>
  <PresentationFormat>Widescreen</PresentationFormat>
  <Paragraphs>168</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Ghislain Che Ngwateh</cp:lastModifiedBy>
  <cp:revision>3</cp:revision>
  <dcterms:created xsi:type="dcterms:W3CDTF">2013-01-27T09:14:16Z</dcterms:created>
  <dcterms:modified xsi:type="dcterms:W3CDTF">2026-05-03T10:00:58Z</dcterms:modified>
  <cp:category/>
</cp:coreProperties>
</file>